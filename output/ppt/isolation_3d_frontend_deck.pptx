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\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docProps\app.xml><?xml version="1.0" encoding="utf-8"?>
<Properties xmlns="http://schemas.openxmlformats.org/officeDocument/2006/extended-properties" xmlns:vt="http://schemas.openxmlformats.org/officeDocument/2006/docPropsVTypes">
  <Application>Codex PPTX Generator</Application>
  <PresentationFormat>Widescreen</PresentationFormat>
  <Slides>9</Slides>
</Properties>
</file>

<file path=docProps\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Isolation Project Deck</dc:title>
  <dc:creator>Codex</dc:creator>
  <cp:lastModifiedBy>Codex</cp:lastModifiedBy>
  <dcterms:created xsi:type="dcterms:W3CDTF">2026-05-11T00:00:00Z</dcterms:created>
  <dcterms:modified xsi:type="dcterms:W3CDTF">2026-05-11T00:00:00Z</dcterms:modified>
</cp:coreProperties>
</file>

<file path=ppt\_rels\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/Relationships>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 type="wide"/>
  <p:notesSz cx="6858000" cy="9144000"/>
</p:presentation>
</file>

<file path=ppt\slideLayouts\_rels\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\slideMasters\_rels\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\slideMasters\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\slides\_rels\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\slides\_rels\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\slides\_rels\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\slides\_rels\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\slides\_rels\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\slides\_rels\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\slides\_rels\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\slides\_rels\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\slides\_rels\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\slides\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1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3D Frontend Architecture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31520" y="1234440"/>
            <a:ext cx="10058400" cy="1051560"/>
          </a:xfrm>
          <a:prstGeom prst="rect">
            <a:avLst/>
          </a:prstGeom>
          <a:noFill/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310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Step2 3D 인터랙션과 통계 시각화 설계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822960" y="2788920"/>
            <a:ext cx="10149840" cy="25603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2000" dirty="0">
                <a:solidFill>
                  <a:srgbClr val="EAF6FF"/>
                </a:solidFill>
                <a:latin typeface="Malgun Gothic"/>
                <a:ea typeface="Malgun Gothic"/>
              </a:rPr>
              <a:t>Three.js 기반 WebGL 렌더링을 React 구조 안에 통합</a:t>
            </a:r>
          </a:p>
          <a:p>
            <a:pPr marL="228600" indent="-171450" algn="l">
              <a:buChar char="•"/>
            </a:pPr>
            <a:r>
              <a:rPr lang="ko-KR" sz="2000" dirty="0">
                <a:solidFill>
                  <a:srgbClr val="EAF6FF"/>
                </a:solidFill>
                <a:latin typeface="Malgun Gothic"/>
                <a:ea typeface="Malgun Gothic"/>
              </a:rPr>
              <a:t>React Three Fiber로 3D 씬을 컴포넌트처럼 선언</a:t>
            </a:r>
          </a:p>
          <a:p>
            <a:pPr marL="228600" indent="-171450" algn="l">
              <a:buChar char="•"/>
            </a:pPr>
            <a:r>
              <a:rPr lang="ko-KR" sz="2000" dirty="0">
                <a:solidFill>
                  <a:srgbClr val="EAF6FF"/>
                </a:solidFill>
                <a:latin typeface="Malgun Gothic"/>
                <a:ea typeface="Malgun Gothic"/>
              </a:rPr>
              <a:t>Drei의 ScrollControls/Environment로 스크롤과 분위기 연출</a:t>
            </a:r>
          </a:p>
          <a:p>
            <a:pPr marL="228600" indent="-171450" algn="l">
              <a:buChar char="•"/>
            </a:pPr>
            <a:r>
              <a:rPr lang="ko-KR" sz="2000" dirty="0">
                <a:solidFill>
                  <a:srgbClr val="EAF6FF"/>
                </a:solidFill>
                <a:latin typeface="Malgun Gothic"/>
                <a:ea typeface="Malgun Gothic"/>
              </a:rPr>
              <a:t>통계는 3D 그래프 구조를 고려하되 모바일 시연성 때문에 Matter.js로 전환</a:t>
            </a:r>
          </a:p>
        </p:txBody>
      </p:sp>
    </p:spTree>
  </p:cSld>
  <p:clrMapOvr>
    <a:masterClrMapping/>
  </p:clrMapOvr>
</p:sld>
</file>

<file path=ppt\slides\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820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0D394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사용 라이브러리와 역할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77240" y="1143000"/>
            <a:ext cx="3291840" cy="1143000"/>
          </a:xfrm>
          <a:prstGeom prst="round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700" dirty="0">
                <a:solidFill>
                  <a:srgbClr val="101820"/>
                </a:solidFill>
                <a:latin typeface="Malgun Gothic"/>
                <a:ea typeface="Malgun Gothic"/>
              </a:rPr>
              <a:t>three</a:t>
            </a:r>
          </a:p>
          <a:p>
            <a:pPr marL="0" indent="0" algn="l">
              <a:buNone/>
            </a:pPr>
            <a:r>
              <a:rPr lang="ko-KR" sz="1700" dirty="0">
                <a:solidFill>
                  <a:srgbClr val="101820"/>
                </a:solidFill>
                <a:latin typeface="Malgun Gothic"/>
                <a:ea typeface="Malgun Gothic"/>
              </a:rPr>
              <a:t>3D 오브젝트, 카메라, 조명, 머티리얼 기반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4434840" y="1143000"/>
            <a:ext cx="3291840" cy="1143000"/>
          </a:xfrm>
          <a:prstGeom prst="roundRect">
            <a:avLst/>
          </a:prstGeom>
          <a:solidFill>
            <a:srgbClr val="60D394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700" dirty="0">
                <a:solidFill>
                  <a:srgbClr val="101820"/>
                </a:solidFill>
                <a:latin typeface="Malgun Gothic"/>
                <a:ea typeface="Malgun Gothic"/>
              </a:rPr>
              <a:t>@react-three/fiber</a:t>
            </a:r>
          </a:p>
          <a:p>
            <a:pPr marL="0" indent="0" algn="l">
              <a:buNone/>
            </a:pPr>
            <a:r>
              <a:rPr lang="ko-KR" sz="1700" dirty="0">
                <a:solidFill>
                  <a:srgbClr val="101820"/>
                </a:solidFill>
                <a:latin typeface="Malgun Gothic"/>
                <a:ea typeface="Malgun Gothic"/>
              </a:rPr>
              <a:t>React 컴포넌트 방식의 WebGL 씬 구성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8092440" y="1143000"/>
            <a:ext cx="3291840" cy="1143000"/>
          </a:xfrm>
          <a:prstGeom prst="roundRect">
            <a:avLst/>
          </a:prstGeom>
          <a:solidFill>
            <a:srgbClr val="FFD166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700" dirty="0">
                <a:solidFill>
                  <a:srgbClr val="101820"/>
                </a:solidFill>
                <a:latin typeface="Malgun Gothic"/>
                <a:ea typeface="Malgun Gothic"/>
              </a:rPr>
              <a:t>@react-three/drei</a:t>
            </a:r>
          </a:p>
          <a:p>
            <a:pPr marL="0" indent="0" algn="l">
              <a:buNone/>
            </a:pPr>
            <a:r>
              <a:rPr lang="ko-KR" sz="1700" dirty="0">
                <a:solidFill>
                  <a:srgbClr val="101820"/>
                </a:solidFill>
                <a:latin typeface="Malgun Gothic"/>
                <a:ea typeface="Malgun Gothic"/>
              </a:rPr>
              <a:t>ScrollControls, Environment 등 보조 기능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2606040" y="3017520"/>
            <a:ext cx="3291840" cy="1143000"/>
          </a:xfrm>
          <a:prstGeom prst="round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700" dirty="0">
                <a:solidFill>
                  <a:srgbClr val="101820"/>
                </a:solidFill>
                <a:latin typeface="Malgun Gothic"/>
                <a:ea typeface="Malgun Gothic"/>
              </a:rPr>
              <a:t>react-force-graph-3d</a:t>
            </a:r>
          </a:p>
          <a:p>
            <a:pPr marL="0" indent="0" algn="l">
              <a:buNone/>
            </a:pPr>
            <a:r>
              <a:rPr lang="ko-KR" sz="1700" dirty="0">
                <a:solidFill>
                  <a:srgbClr val="101820"/>
                </a:solidFill>
                <a:latin typeface="Malgun Gothic"/>
                <a:ea typeface="Malgun Gothic"/>
              </a:rPr>
              <a:t>노드/링크 통계 그래프 확장 고려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6263640" y="3017520"/>
            <a:ext cx="3291840" cy="1143000"/>
          </a:xfrm>
          <a:prstGeom prst="roundRect">
            <a:avLst/>
          </a:prstGeom>
          <a:solidFill>
            <a:srgbClr val="2D5B7C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700" dirty="0">
                <a:solidFill>
                  <a:srgbClr val="FFFFFF"/>
                </a:solidFill>
                <a:latin typeface="Malgun Gothic"/>
                <a:ea typeface="Malgun Gothic"/>
              </a:rPr>
              <a:t>Matter.js</a:t>
            </a:r>
          </a:p>
          <a:p>
            <a:pPr marL="0" indent="0" algn="l">
              <a:buNone/>
            </a:pPr>
            <a:r>
              <a:rPr lang="ko-KR" sz="1700" dirty="0">
                <a:solidFill>
                  <a:srgbClr val="FFFFFF"/>
                </a:solidFill>
                <a:latin typeface="Malgun Gothic"/>
                <a:ea typeface="Malgun Gothic"/>
              </a:rPr>
              <a:t>최종 모바일 통계 입자 물리 시각화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914400" y="48920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700" dirty="0">
                <a:solidFill>
                  <a:srgbClr val="EAF6FF"/>
                </a:solidFill>
                <a:latin typeface="Malgun Gothic"/>
                <a:ea typeface="Malgun Gothic"/>
              </a:rPr>
              <a:t>코드 좌표: src/components/contents/stepB/Scrolling.jsx, src/components/contents/stepC/Layering.jsx</a:t>
            </a:r>
          </a:p>
        </p:txBody>
      </p:sp>
    </p:spTree>
  </p:cSld>
  <p:clrMapOvr>
    <a:masterClrMapping/>
  </p:clrMapOvr>
</p:sld>
</file>

<file path=ppt\slides\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3263A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Step2 3D 씬 구성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685800" y="1143000"/>
            <a:ext cx="2103120" cy="777240"/>
          </a:xfrm>
          <a:prstGeom prst="round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800" dirty="0">
                <a:b/>
                <a:solidFill>
                  <a:srgbClr val="101820"/>
                </a:solidFill>
                <a:latin typeface="Malgun Gothic"/>
                <a:ea typeface="Malgun Gothic"/>
              </a:rPr>
              <a:t>Canvas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3246120" y="1143000"/>
            <a:ext cx="2103120" cy="777240"/>
          </a:xfrm>
          <a:prstGeom prst="roundRect">
            <a:avLst/>
          </a:prstGeom>
          <a:solidFill>
            <a:srgbClr val="60D394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800" dirty="0">
                <a:b/>
                <a:solidFill>
                  <a:srgbClr val="101820"/>
                </a:solidFill>
                <a:latin typeface="Malgun Gothic"/>
                <a:ea typeface="Malgun Gothic"/>
              </a:rPr>
              <a:t>Camera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5806440" y="1143000"/>
            <a:ext cx="2103120" cy="777240"/>
          </a:xfrm>
          <a:prstGeom prst="roundRect">
            <a:avLst/>
          </a:prstGeom>
          <a:solidFill>
            <a:srgbClr val="FFD166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800" dirty="0">
                <a:b/>
                <a:solidFill>
                  <a:srgbClr val="101820"/>
                </a:solidFill>
                <a:latin typeface="Malgun Gothic"/>
                <a:ea typeface="Malgun Gothic"/>
              </a:rPr>
              <a:t>Lights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366760" y="1143000"/>
            <a:ext cx="2103120" cy="777240"/>
          </a:xfrm>
          <a:prstGeom prst="round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800" dirty="0">
                <a:b/>
                <a:solidFill>
                  <a:srgbClr val="101820"/>
                </a:solidFill>
                <a:latin typeface="Malgun Gothic"/>
                <a:ea typeface="Malgun Gothic"/>
              </a:rPr>
              <a:t>Bubbles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822960" y="2788920"/>
            <a:ext cx="10332720" cy="25603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Canvas가 WebGL 렌더링 영역을 생성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camera position, fov, near/far 값으로 수중 깊이감 구성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ambientLight, pointLight, Environment로 어두운 수중 분위기 연출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Bubbles 컴포넌트가 instancedMesh 기반 3D 입자를 담당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2788920" y="1536192"/>
            <a:ext cx="457200" cy="0"/>
          </a:xfrm>
          <a:prstGeom prst="line">
            <a:avLst/>
          </a:prstGeom>
          <a:ln w="25400">
            <a:solidFill>
              <a:srgbClr val="EAF6FF"/>
            </a:solidFill>
            <a:tailEnd type="triangle"/>
          </a:ln>
        </p:spPr>
      </p:cxnSp>
      <p:cxnSp>
        <p:nvCxnSpPr>
          <p:cNvPr id="11" name="Arrow 11"/>
          <p:cNvCxnSpPr/>
          <p:nvPr/>
        </p:nvCxnSpPr>
        <p:spPr>
          <a:xfrm>
            <a:off x="5349240" y="1536192"/>
            <a:ext cx="457200" cy="0"/>
          </a:xfrm>
          <a:prstGeom prst="line">
            <a:avLst/>
          </a:prstGeom>
          <a:ln w="25400">
            <a:solidFill>
              <a:srgbClr val="EAF6FF"/>
            </a:solidFill>
            <a:tailEnd type="triangle"/>
          </a:ln>
        </p:spPr>
      </p:cxnSp>
      <p:cxnSp>
        <p:nvCxnSpPr>
          <p:cNvPr id="12" name="Arrow 12"/>
          <p:cNvCxnSpPr/>
          <p:nvPr/>
        </p:nvCxnSpPr>
        <p:spPr>
          <a:xfrm>
            <a:off x="7909560" y="1536192"/>
            <a:ext cx="457200" cy="0"/>
          </a:xfrm>
          <a:prstGeom prst="line">
            <a:avLst/>
          </a:prstGeom>
          <a:ln w="25400">
            <a:solidFill>
              <a:srgbClr val="EAF6FF"/>
            </a:solidFill>
            <a:tailEnd type="triangle"/>
          </a:ln>
        </p:spPr>
      </p:cxnSp>
    </p:spTree>
  </p:cSld>
  <p:clrMapOvr>
    <a:masterClrMapping/>
  </p:clrMapOvr>
</p:sld>
</file>

<file path=ppt\slides\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820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D166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useFrame 기반 애니메이션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77240" y="1143000"/>
            <a:ext cx="5394960" cy="43891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useFrame은 매 렌더 프레임마다 실행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scroll.delta, wheel input, pointer motion을 합산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inputPower → targetEnergy → visibility 계산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버블의 z/y 위치와 scale을 계속 갱신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6400800" y="1234440"/>
            <a:ext cx="4389120" cy="777240"/>
          </a:xfrm>
          <a:prstGeom prst="round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800" dirty="0">
                <a:b/>
                <a:solidFill>
                  <a:srgbClr val="101820"/>
                </a:solidFill>
                <a:latin typeface="Malgun Gothic"/>
                <a:ea typeface="Malgun Gothic"/>
              </a:rPr>
              <a:t>Input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6400800" y="2331720"/>
            <a:ext cx="4389120" cy="777240"/>
          </a:xfrm>
          <a:prstGeom prst="roundRect">
            <a:avLst/>
          </a:prstGeom>
          <a:solidFill>
            <a:srgbClr val="60D394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800" dirty="0">
                <a:b/>
                <a:solidFill>
                  <a:srgbClr val="101820"/>
                </a:solidFill>
                <a:latin typeface="Malgun Gothic"/>
                <a:ea typeface="Malgun Gothic"/>
              </a:rPr>
              <a:t>Energy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6400800" y="3429000"/>
            <a:ext cx="4389120" cy="777240"/>
          </a:xfrm>
          <a:prstGeom prst="roundRect">
            <a:avLst/>
          </a:prstGeom>
          <a:solidFill>
            <a:srgbClr val="FFD166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800" dirty="0">
                <a:b/>
                <a:solidFill>
                  <a:srgbClr val="101820"/>
                </a:solidFill>
                <a:latin typeface="Malgun Gothic"/>
                <a:ea typeface="Malgun Gothic"/>
              </a:rPr>
              <a:t>Transform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6400800" y="4526280"/>
            <a:ext cx="4389120" cy="777240"/>
          </a:xfrm>
          <a:prstGeom prst="round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1800" dirty="0">
                <a:b/>
                <a:solidFill>
                  <a:srgbClr val="101820"/>
                </a:solidFill>
                <a:latin typeface="Malgun Gothic"/>
                <a:ea typeface="Malgun Gothic"/>
              </a:rPr>
              <a:t>Render Update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8595360" y="2011680"/>
            <a:ext cx="0" cy="310896"/>
          </a:xfrm>
          <a:prstGeom prst="line">
            <a:avLst/>
          </a:prstGeom>
          <a:ln w="25400">
            <a:solidFill>
              <a:srgbClr val="EAF6FF"/>
            </a:solidFill>
            <a:tailEnd type="triangle"/>
          </a:ln>
        </p:spPr>
      </p:cxnSp>
      <p:cxnSp>
        <p:nvCxnSpPr>
          <p:cNvPr id="11" name="Arrow 11"/>
          <p:cNvCxnSpPr/>
          <p:nvPr/>
        </p:nvCxnSpPr>
        <p:spPr>
          <a:xfrm>
            <a:off x="8595360" y="3108960"/>
            <a:ext cx="0" cy="310896"/>
          </a:xfrm>
          <a:prstGeom prst="line">
            <a:avLst/>
          </a:prstGeom>
          <a:ln w="25400">
            <a:solidFill>
              <a:srgbClr val="EAF6FF"/>
            </a:solidFill>
            <a:tailEnd type="triangle"/>
          </a:ln>
        </p:spPr>
      </p:cxnSp>
      <p:cxnSp>
        <p:nvCxnSpPr>
          <p:cNvPr id="12" name="Arrow 12"/>
          <p:cNvCxnSpPr/>
          <p:nvPr/>
        </p:nvCxnSpPr>
        <p:spPr>
          <a:xfrm>
            <a:off x="8595360" y="4206240"/>
            <a:ext cx="0" cy="310896"/>
          </a:xfrm>
          <a:prstGeom prst="line">
            <a:avLst/>
          </a:prstGeom>
          <a:ln w="25400">
            <a:solidFill>
              <a:srgbClr val="EAF6FF"/>
            </a:solidFill>
            <a:tailEnd type="triangle"/>
          </a:ln>
        </p:spPr>
      </p:cxnSp>
    </p:spTree>
  </p:cSld>
  <p:clrMapOvr>
    <a:masterClrMapping/>
  </p:clrMapOvr>
</p:sld>
</file>

<file path=ppt\slides\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3263A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0D394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instancedMesh 성능 최적화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77240" y="1143000"/>
            <a:ext cx="5120640" cy="4389120"/>
          </a:xfrm>
          <a:prstGeom prst="roundRect">
            <a:avLst/>
          </a:prstGeom>
          <a:solidFill>
            <a:srgbClr val="1D2E44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top"/>
          <a:lstStyle/>
          <a:p>
            <a:pPr marL="0" indent="0" algn="l">
              <a:buNone/>
            </a:pPr>
            <a:r>
              <a:rPr lang="ko-KR" sz="2000" dirty="0">
                <a:solidFill>
                  <a:srgbClr val="FFFFFF"/>
                </a:solidFill>
                <a:latin typeface="Malgun Gothic"/>
                <a:ea typeface="Malgun Gothic"/>
              </a:rPr>
              <a:t>문제</a:t>
            </a:r>
          </a:p>
          <a:p>
            <a:pPr marL="0" indent="0" algn="l">
              <a:buNone/>
            </a:pPr>
            <a:r>
              <a:rPr lang="ko-KR" sz="2000" dirty="0">
                <a:solidFill>
                  <a:srgbClr val="FFFFFF"/>
                </a:solidFill>
                <a:latin typeface="Malgun Gothic"/>
                <a:ea typeface="Malgun Gothic"/>
              </a:rPr>
              <a:t>버블을 각각 mesh로 만들면 오브젝트 수만큼 draw 비용 증가</a:t>
            </a:r>
          </a:p>
          <a:p>
            <a:pPr marL="0" indent="0" algn="l">
              <a:buNone/>
            </a:pPr>
            <a:r>
              <a:rPr lang="ko-KR" sz="2000" dirty="0">
                <a:solidFill>
                  <a:srgbClr val="FFFFFF"/>
                </a:solidFill>
                <a:latin typeface="Malgun Gothic"/>
                <a:ea typeface="Malgun Gothic"/>
              </a:rPr>
              <a:t>React 컴포넌트가 많아질수록 모바일 렌더링 부담 증가</a:t>
            </a:r>
          </a:p>
          <a:p>
            <a:pPr marL="0" indent="0" algn="l">
              <a:buNone/>
            </a:pPr>
            <a:r>
              <a:rPr lang="ko-KR" sz="2000" dirty="0">
                <a:solidFill>
                  <a:srgbClr val="FFFFFF"/>
                </a:solidFill>
                <a:latin typeface="Malgun Gothic"/>
                <a:ea typeface="Malgun Gothic"/>
              </a:rPr>
              <a:t>투명 구체는 겹침 처리도 비용이 커질 수 있음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6400800" y="1143000"/>
            <a:ext cx="5120640" cy="4389120"/>
          </a:xfrm>
          <a:prstGeom prst="roundRect">
            <a:avLst/>
          </a:prstGeom>
          <a:solidFill>
            <a:srgbClr val="60D394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top"/>
          <a:lstStyle/>
          <a:p>
            <a:pPr marL="0" indent="0" algn="l">
              <a:buNone/>
            </a:pPr>
            <a:r>
              <a:rPr lang="ko-KR" sz="2000" dirty="0">
                <a:solidFill>
                  <a:srgbClr val="101820"/>
                </a:solidFill>
                <a:latin typeface="Malgun Gothic"/>
                <a:ea typeface="Malgun Gothic"/>
              </a:rPr>
              <a:t>해결</a:t>
            </a:r>
          </a:p>
          <a:p>
            <a:pPr marL="0" indent="0" algn="l">
              <a:buNone/>
            </a:pPr>
            <a:r>
              <a:rPr lang="ko-KR" sz="2000" dirty="0">
                <a:solidFill>
                  <a:srgbClr val="101820"/>
                </a:solidFill>
                <a:latin typeface="Malgun Gothic"/>
                <a:ea typeface="Malgun Gothic"/>
              </a:rPr>
              <a:t>같은 sphereGeometry와 material 공유</a:t>
            </a:r>
          </a:p>
          <a:p>
            <a:pPr marL="0" indent="0" algn="l">
              <a:buNone/>
            </a:pPr>
            <a:r>
              <a:rPr lang="ko-KR" sz="2000" dirty="0">
                <a:solidFill>
                  <a:srgbClr val="101820"/>
                </a:solidFill>
                <a:latin typeface="Malgun Gothic"/>
                <a:ea typeface="Malgun Gothic"/>
              </a:rPr>
              <a:t>THREE.Object3D dummy로 transform 계산</a:t>
            </a:r>
          </a:p>
          <a:p>
            <a:pPr marL="0" indent="0" algn="l">
              <a:buNone/>
            </a:pPr>
            <a:r>
              <a:rPr lang="ko-KR" sz="2000" dirty="0">
                <a:solidFill>
                  <a:srgbClr val="101820"/>
                </a:solidFill>
                <a:latin typeface="Malgun Gothic"/>
                <a:ea typeface="Malgun Gothic"/>
              </a:rPr>
              <a:t>mesh.setMatrixAt(index, matrix)로 인스턴스별 위치 갱신</a:t>
            </a:r>
          </a:p>
          <a:p>
            <a:pPr marL="0" indent="0" algn="l">
              <a:buNone/>
            </a:pPr>
            <a:r>
              <a:rPr lang="ko-KR" sz="2000" dirty="0">
                <a:solidFill>
                  <a:srgbClr val="101820"/>
                </a:solidFill>
                <a:latin typeface="Malgun Gothic"/>
                <a:ea typeface="Malgun Gothic"/>
              </a:rPr>
              <a:t>instanceMatrix.needsUpdate로 GPU 반영</a:t>
            </a:r>
          </a:p>
        </p:txBody>
      </p:sp>
    </p:spTree>
  </p:cSld>
  <p:clrMapOvr>
    <a:masterClrMapping/>
  </p:clrMapOvr>
</p:sld>
</file>

<file path=ppt\slides\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820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사용자 입력과 3D 반응 연결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31520" y="1143000"/>
            <a:ext cx="2560320" cy="822960"/>
          </a:xfrm>
          <a:prstGeom prst="round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000" dirty="0">
                <a:b/>
                <a:solidFill>
                  <a:srgbClr val="101820"/>
                </a:solidFill>
                <a:latin typeface="Malgun Gothic"/>
                <a:ea typeface="Malgun Gothic"/>
              </a:rPr>
              <a:t>스크롤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3657600" y="1143000"/>
            <a:ext cx="2560320" cy="822960"/>
          </a:xfrm>
          <a:prstGeom prst="roundRect">
            <a:avLst/>
          </a:prstGeom>
          <a:solidFill>
            <a:srgbClr val="60D394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000" dirty="0">
                <a:b/>
                <a:solidFill>
                  <a:srgbClr val="101820"/>
                </a:solidFill>
                <a:latin typeface="Malgun Gothic"/>
                <a:ea typeface="Malgun Gothic"/>
              </a:rPr>
              <a:t>포인터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6583680" y="1143000"/>
            <a:ext cx="2560320" cy="822960"/>
          </a:xfrm>
          <a:prstGeom prst="roundRect">
            <a:avLst/>
          </a:prstGeom>
          <a:solidFill>
            <a:srgbClr val="FFD166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000" dirty="0">
                <a:b/>
                <a:solidFill>
                  <a:srgbClr val="101820"/>
                </a:solidFill>
                <a:latin typeface="Malgun Gothic"/>
                <a:ea typeface="Malgun Gothic"/>
              </a:rPr>
              <a:t>클릭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9509760" y="1143000"/>
            <a:ext cx="1828800" cy="822960"/>
          </a:xfrm>
          <a:prstGeom prst="round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000" dirty="0">
                <a:b/>
                <a:solidFill>
                  <a:srgbClr val="101820"/>
                </a:solidFill>
                <a:latin typeface="Malgun Gothic"/>
                <a:ea typeface="Malgun Gothic"/>
              </a:rPr>
              <a:t>전환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868680" y="2788920"/>
            <a:ext cx="10241280" cy="25603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스크롤 속도가 빨라질수록 버블의 움직임과 visibility 증가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마우스 위치에 따라 group rotation/position을 보간해 공간감 부여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특정 클릭 이벤트에서 B_click.mp3를 재생하고 상승 이벤트 시작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상승 이벤트 종료 후 C_B_VID.mp4를 재생하고 Step3로 이동</a:t>
            </a:r>
          </a:p>
        </p:txBody>
      </p:sp>
    </p:spTree>
  </p:cSld>
  <p:clrMapOvr>
    <a:masterClrMapping/>
  </p:clrMapOvr>
</p:sld>
</file>

<file path=ppt\slides\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3263A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D166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3D 그래프 설계와 전환 이유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77240" y="1097280"/>
            <a:ext cx="5303520" cy="43891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초기 요구: react-force-graph-3d 기반 포스 그래프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백엔드: graph.nodes / graph.links 구조 제공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연령대, 성별, 문항, 답변을 노드/링크로 표현 가능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6400800" y="1097280"/>
            <a:ext cx="5029200" cy="43891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최종 전환: 모바일 세로형 화면에서 3D 그래프는 정보 판독성이 낮음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참여자 수는 Matter.js 입자로 직관화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문항별 응답 비율은 원그래프로 명확하게 전달</a:t>
            </a:r>
          </a:p>
        </p:txBody>
      </p:sp>
    </p:spTree>
  </p:cSld>
  <p:clrMapOvr>
    <a:masterClrMapping/>
  </p:clrMapOvr>
</p:sld>
</file>

<file path=ppt\slides\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820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0D394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발표용 핵심 문장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822960" y="1143000"/>
            <a:ext cx="10241280" cy="1234440"/>
          </a:xfrm>
          <a:prstGeom prst="roundRect">
            <a:avLst/>
          </a:prstGeom>
          <a:solidFill>
            <a:srgbClr val="1D2E44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Three.js를 직접 쓰기보다 React Three Fiber를 사용해 3D 씬을 React 컴포넌트 구조 안에 통합했습니다.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822960" y="2743200"/>
            <a:ext cx="10241280" cy="1234440"/>
          </a:xfrm>
          <a:prstGeom prst="roundRect">
            <a:avLst/>
          </a:prstGeom>
          <a:solidFill>
            <a:srgbClr val="60D394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b/>
                <a:solidFill>
                  <a:srgbClr val="101820"/>
                </a:solidFill>
                <a:latin typeface="Malgun Gothic"/>
                <a:ea typeface="Malgun Gothic"/>
              </a:rPr>
              <a:t>useFrame으로 스크롤, 휠, 포인터 입력을 매 프레임 계산해 3D 버블의 위치와 반응성을 제어했습니다.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822960" y="4343400"/>
            <a:ext cx="10241280" cy="1234440"/>
          </a:xfrm>
          <a:prstGeom prst="roundRect">
            <a:avLst/>
          </a:prstGeom>
          <a:solidFill>
            <a:srgbClr val="FFD166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b/>
                <a:solidFill>
                  <a:srgbClr val="101820"/>
                </a:solidFill>
                <a:latin typeface="Malgun Gothic"/>
                <a:ea typeface="Malgun Gothic"/>
              </a:rPr>
              <a:t>다수의 버블은 instancedMesh로 렌더링해 모바일 환경에서도 성능 부담을 줄였습니다.</a:t>
            </a:r>
          </a:p>
        </p:txBody>
      </p:sp>
    </p:spTree>
  </p:cSld>
  <p:clrMapOvr>
    <a:masterClrMapping/>
  </p:clrMapOvr>
</p:sld>
</file>

<file path=ppt\slides\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1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B7FF">
              <a:alpha val="100000"/>
            </a:srgbClr>
          </a:solidFill>
          <a:ln>
            <a:noFill/>
          </a:ln>
        </p:spPr>
        <p:txBody>
          <a:bodyPr wrap="square" lIns="109728" tIns="73152" rIns="109728" bIns="73152" anchor="mid"/>
          <a:lstStyle/>
          <a:p>
            <a:pPr marL="0" indent="0" algn="l">
              <a:buNone/>
            </a:pPr>
            <a:r>
              <a:rPr lang="ko-KR" sz="2200" dirty="0">
                <a:solidFill>
                  <a:srgbClr val="111111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94360" y="347472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op"/>
          <a:lstStyle/>
          <a:p>
            <a:pPr marL="0" indent="0" algn="l">
              <a:buNone/>
            </a:pPr>
            <a:r>
              <a:rPr lang="ko-KR" sz="270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코드 캡처 좌표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777240" y="1097280"/>
            <a:ext cx="10332720" cy="4572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op"/>
          <a:lstStyle/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src/components/contents/stepB/Scrolling.jsx: import Canvas, useFrame, useThree, THREE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src/components/contents/stepB/Scrolling.jsx: Bubbles 컴포넌트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src/components/contents/stepB/Scrolling.jsx: BubbleField Canvas 설정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src/components/contents/stepB/Scrolling.jsx: instancedMesh / sphereGeometry / meshPhysicalMaterial</a:t>
            </a:r>
          </a:p>
          <a:p>
            <a:pPr marL="228600" indent="-171450" algn="l">
              <a:buChar char="•"/>
            </a:pPr>
            <a:r>
              <a:rPr lang="ko-KR" sz="1900" dirty="0">
                <a:solidFill>
                  <a:srgbClr val="EAF6FF"/>
                </a:solidFill>
                <a:latin typeface="Malgun Gothic"/>
                <a:ea typeface="Malgun Gothic"/>
              </a:rPr>
              <a:t>src/components/contents/stepC/Layering.jsx: Matter.js 참여자 입자 시각화</a:t>
            </a:r>
          </a:p>
        </p:txBody>
      </p:sp>
    </p:spTree>
  </p:cSld>
  <p:clrMapOvr>
    <a:masterClrMapping/>
  </p:clrMapOvr>
</p:sld>
</file>

<file path=ppt\theme\theme1.xml><?xml version="1.0" encoding="utf-8"?>
<a:theme xmlns:a="http://schemas.openxmlformats.org/drawingml/2006/main" name="CodexTheme">
  <a:themeElements>
    <a:clrScheme name="Codex">
      <a:dk1>
        <a:srgbClr val="101820"/>
      </a:dk1>
      <a:lt1>
        <a:srgbClr val="FFFFFF"/>
      </a:lt1>
      <a:dk2>
        <a:srgbClr val="1B263B"/>
      </a:dk2>
      <a:lt2>
        <a:srgbClr val="F4F8FF"/>
      </a:lt2>
      <a:accent1>
        <a:srgbClr val="37B7FF"/>
      </a:accent1>
      <a:accent2>
        <a:srgbClr val="60D394"/>
      </a:accent2>
      <a:accent3>
        <a:srgbClr val="FFD166"/>
      </a:accent3>
      <a:accent4>
        <a:srgbClr val="EF476F"/>
      </a:accent4>
      <a:accent5>
        <a:srgbClr val="8E7CFF"/>
      </a:accent5>
      <a:accent6>
        <a:srgbClr val="06D6A0"/>
      </a:accent6>
      <a:hlink>
        <a:srgbClr val="37B7FF"/>
      </a:hlink>
      <a:folHlink>
        <a:srgbClr val="8E7CFF"/>
      </a:folHlink>
    </a:clrScheme>
    <a:fontScheme name="Malgun">
      <a:majorFont>
        <a:latin typeface="Malgun Gothic"/>
        <a:ea typeface="Malgun Gothic"/>
      </a:majorFont>
      <a:minorFont>
        <a:latin typeface="Malgun Gothic"/>
        <a:ea typeface="Malgun Gothic"/>
      </a:minorFont>
    </a:fontScheme>
    <a:fmtScheme name="Default">
      <a:fillStyleLst/>
      <a:lnStyleLst/>
      <a:effectStyleLst/>
      <a:bgFillStyleLst/>
    </a:fmtScheme>
  </a:themeElements>
</a:theme>
</file>