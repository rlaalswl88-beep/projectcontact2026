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\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docProps\app.xml><?xml version="1.0" encoding="utf-8"?>
<Properties xmlns="http://schemas.openxmlformats.org/officeDocument/2006/extended-properties" xmlns:vt="http://schemas.openxmlformats.org/officeDocument/2006/docPropsVTypes">
  <Application>Codex PPTX Generator</Application>
  <PresentationFormat>Widescreen</PresentationFormat>
  <Slides>16</Slides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Isolation Project Deck</dc:title>
  <dc:creator>Codex</dc:creator>
  <cp:lastModifiedBy>Codex</cp:lastModifiedBy>
  <dcterms:created xsi:type="dcterms:W3CDTF">2026-05-11T00:00:00Z</dcterms:created>
  <dcterms:modified xsi:type="dcterms:W3CDTF">2026-05-11T00:00:00Z</dcterms:modified>
</cp:coreProperties>
</file>

<file path=ppt\_rels\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/Relationships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 type="wide"/>
  <p:notesSz cx="6858000" cy="9144000"/>
</p:presentation>
</file>

<file path=ppt\slideLayouts\_rels\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\slideMasters\_rels\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\slides\_rels\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\slides\_rels\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\slides\_rels\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\slides\_rels\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\slides\_rels\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\slides\_rels\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\slides\_rels\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\slides\_rels\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\slides\_rels\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\slides\_rels\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\slides\_rels\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\slides\_rels\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\slides\_rels\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\slides\_rels\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\slides\_rels\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\slides\_rels\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Interactive Survey Platform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685800" y="1143000"/>
            <a:ext cx="5120640" cy="1005840"/>
          </a:xfrm>
          <a:prstGeom prst="rect">
            <a:avLst/>
          </a:prstGeom>
          <a:noFill/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5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DB · Backend · RAG · 3D Interaction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749808" y="2487168"/>
            <a:ext cx="4389120" cy="731520"/>
          </a:xfrm>
          <a:prstGeom prst="rect">
            <a:avLst/>
          </a:prstGeom>
          <a:noFill/>
          <a:ln>
            <a:noFill/>
          </a:ln>
        </p:spPr>
        <p:txBody>
          <a:bodyPr wrap="square" lIns="109728" tIns="73152" rIns="109728" bIns="73152" anchor="top"/>
          <a:lstStyle/>
          <a:p>
            <a:pPr marL="0" indent="0" algn="l">
              <a:buNone/>
            </a:pPr>
            <a:r>
              <a:rPr lang="ko-KR" sz="1800" dirty="0">
                <a:solidFill>
                  <a:srgbClr val="17324D"/>
                </a:solidFill>
                <a:latin typeface="Malgun Gothic"/>
                <a:ea typeface="Malgun Gothic"/>
              </a:rPr>
              <a:t>설문 데이터가 개인 결과, 전체 통계, 채팅 검열, 3D 체험으로 이어지는 풀스택 프로젝트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777240" y="3840480"/>
            <a:ext cx="2834640" cy="640080"/>
          </a:xfrm>
          <a:prstGeom prst="roundRect">
            <a:avLst/>
          </a:prstGeom>
          <a:solidFill>
            <a:srgbClr val="DDF1FF">
              <a:alpha val="100000"/>
            </a:srgbClr>
          </a:solidFill>
          <a:ln w="12700">
            <a:solidFill>
              <a:srgbClr val="9BD6FF"/>
            </a:solidFill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6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React + Express + MySQL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3794760" y="3840480"/>
            <a:ext cx="2103120" cy="640080"/>
          </a:xfrm>
          <a:prstGeom prst="roundRect">
            <a:avLst/>
          </a:prstGeom>
          <a:solidFill>
            <a:srgbClr val="EAF7FF">
              <a:alpha val="100000"/>
            </a:srgbClr>
          </a:solidFill>
          <a:ln w="12700">
            <a:solidFill>
              <a:srgbClr val="9BD6FF"/>
            </a:solidFill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6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OpenAI RAG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6080760" y="3840480"/>
            <a:ext cx="2560320" cy="640080"/>
          </a:xfrm>
          <a:prstGeom prst="roundRect">
            <a:avLst/>
          </a:prstGeom>
          <a:solidFill>
            <a:srgbClr val="EEF9FF">
              <a:alpha val="100000"/>
            </a:srgbClr>
          </a:solidFill>
          <a:ln w="12700">
            <a:solidFill>
              <a:srgbClr val="9BD6FF"/>
            </a:solidFill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6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Three.js / Matter.js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051560"/>
            <a:ext cx="2606040" cy="5623560"/>
          </a:xfrm>
          <a:prstGeom prst="rect">
            <a:avLst/>
          </a:prstGeom>
          <a:ln w="12700">
            <a:solidFill>
              <a:srgbClr val="C9E8FF"/>
            </a:solidFill>
          </a:ln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1417320"/>
            <a:ext cx="2194560" cy="4754880"/>
          </a:xfrm>
          <a:prstGeom prst="rect">
            <a:avLst/>
          </a:prstGeom>
          <a:ln w="12700">
            <a:solidFill>
              <a:srgbClr val="C9E8FF"/>
            </a:solidFill>
          </a:ln>
        </p:spPr>
      </p:pic>
    </p:spTree>
  </p:cSld>
  <p:clrMapOvr>
    <a:masterClrMapping/>
  </p:clrMapOvr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System Architecture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1143000"/>
            <a:ext cx="2011680" cy="777240"/>
          </a:xfrm>
          <a:prstGeom prst="roundRect">
            <a:avLst/>
          </a:prstGeom>
          <a:solidFill>
            <a:srgbClr val="DDF1FF">
              <a:alpha val="100000"/>
            </a:srgbClr>
          </a:solidFill>
          <a:ln w="12700">
            <a:solidFill>
              <a:srgbClr val="9BD6FF"/>
            </a:solidFill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Step UI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3246120" y="1143000"/>
            <a:ext cx="2011680" cy="777240"/>
          </a:xfrm>
          <a:prstGeom prst="roundRect">
            <a:avLst/>
          </a:prstGeom>
          <a:solidFill>
            <a:srgbClr val="EAF7FF">
              <a:alpha val="100000"/>
            </a:srgbClr>
          </a:solidFill>
          <a:ln w="12700">
            <a:solidFill>
              <a:srgbClr val="9BD6FF"/>
            </a:solidFill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Express API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760720" y="1143000"/>
            <a:ext cx="2011680" cy="777240"/>
          </a:xfrm>
          <a:prstGeom prst="roundRect">
            <a:avLst/>
          </a:prstGeom>
          <a:solidFill>
            <a:srgbClr val="F3FBFF">
              <a:alpha val="100000"/>
            </a:srgbClr>
          </a:solidFill>
          <a:ln w="12700">
            <a:solidFill>
              <a:srgbClr val="9BD6FF"/>
            </a:solidFill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Aiven MySQL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275320" y="1143000"/>
            <a:ext cx="2011680" cy="777240"/>
          </a:xfrm>
          <a:prstGeom prst="roundRect">
            <a:avLst/>
          </a:prstGeom>
          <a:solidFill>
            <a:srgbClr val="FFFFFF">
              <a:alpha val="100000"/>
            </a:srgbClr>
          </a:solidFill>
          <a:ln w="12700">
            <a:solidFill>
              <a:srgbClr val="9BD6FF"/>
            </a:solidFill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OpenAI API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77240" y="2880360"/>
            <a:ext cx="5120640" cy="219456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800" dirty="0">
                <a:solidFill>
                  <a:srgbClr val="17324D"/>
                </a:solidFill>
                <a:latin typeface="Malgun Gothic"/>
                <a:ea typeface="Malgun Gothic"/>
              </a:rPr>
              <a:t>쿠키 기반 사용자 식별</a:t>
            </a:r>
          </a:p>
          <a:p>
            <a:pPr marL="228600" indent="-171450" algn="l">
              <a:buChar char="•"/>
            </a:pPr>
            <a:r>
              <a:rPr lang="ko-KR" sz="1800" dirty="0">
                <a:solidFill>
                  <a:srgbClr val="17324D"/>
                </a:solidFill>
                <a:latin typeface="Malgun Gothic"/>
                <a:ea typeface="Malgun Gothic"/>
              </a:rPr>
              <a:t>개인 설문 결과 API</a:t>
            </a:r>
          </a:p>
          <a:p>
            <a:pPr marL="228600" indent="-171450" algn="l">
              <a:buChar char="•"/>
            </a:pPr>
            <a:r>
              <a:rPr lang="ko-KR" sz="1800" dirty="0">
                <a:solidFill>
                  <a:srgbClr val="17324D"/>
                </a:solidFill>
                <a:latin typeface="Malgun Gothic"/>
                <a:ea typeface="Malgun Gothic"/>
              </a:rPr>
              <a:t>연령대/성별/문항별 통계 API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6217920" y="2880360"/>
            <a:ext cx="5120640" cy="219456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800" dirty="0">
                <a:solidFill>
                  <a:srgbClr val="17324D"/>
                </a:solidFill>
                <a:latin typeface="Malgun Gothic"/>
                <a:ea typeface="Malgun Gothic"/>
              </a:rPr>
              <a:t>Trie + RAG 메시지 검열</a:t>
            </a:r>
          </a:p>
          <a:p>
            <a:pPr marL="228600" indent="-171450" algn="l">
              <a:buChar char="•"/>
            </a:pPr>
            <a:r>
              <a:rPr lang="ko-KR" sz="1800" dirty="0">
                <a:solidFill>
                  <a:srgbClr val="17324D"/>
                </a:solidFill>
                <a:latin typeface="Malgun Gothic"/>
                <a:ea typeface="Malgun Gothic"/>
              </a:rPr>
              <a:t>Step2 3D 심해 인터랙션</a:t>
            </a:r>
          </a:p>
          <a:p>
            <a:pPr marL="228600" indent="-171450" algn="l">
              <a:buChar char="•"/>
            </a:pPr>
            <a:r>
              <a:rPr lang="ko-KR" sz="1800" dirty="0">
                <a:solidFill>
                  <a:srgbClr val="17324D"/>
                </a:solidFill>
                <a:latin typeface="Malgun Gothic"/>
                <a:ea typeface="Malgun Gothic"/>
              </a:rPr>
              <a:t>Step3 통계/채팅/리포트 모달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2743200" y="1536192"/>
            <a:ext cx="502920" cy="0"/>
          </a:xfrm>
          <a:prstGeom prst="line">
            <a:avLst/>
          </a:prstGeom>
          <a:ln w="25400">
            <a:solidFill>
              <a:srgbClr val="5DAFEA"/>
            </a:solidFill>
            <a:tailEnd type="triangle"/>
          </a:ln>
        </p:spPr>
      </p:cxnSp>
      <p:cxnSp>
        <p:nvCxnSpPr>
          <p:cNvPr id="12" name="Arrow 12"/>
          <p:cNvCxnSpPr/>
          <p:nvPr/>
        </p:nvCxnSpPr>
        <p:spPr>
          <a:xfrm>
            <a:off x="5257800" y="1536192"/>
            <a:ext cx="502920" cy="0"/>
          </a:xfrm>
          <a:prstGeom prst="line">
            <a:avLst/>
          </a:prstGeom>
          <a:ln w="25400">
            <a:solidFill>
              <a:srgbClr val="5DAFEA"/>
            </a:solidFill>
            <a:tailEnd type="triangle"/>
          </a:ln>
        </p:spPr>
      </p:cxnSp>
      <p:cxnSp>
        <p:nvCxnSpPr>
          <p:cNvPr id="13" name="Arrow 13"/>
          <p:cNvCxnSpPr/>
          <p:nvPr/>
        </p:nvCxnSpPr>
        <p:spPr>
          <a:xfrm>
            <a:off x="7772400" y="1536192"/>
            <a:ext cx="502920" cy="0"/>
          </a:xfrm>
          <a:prstGeom prst="line">
            <a:avLst/>
          </a:prstGeom>
          <a:ln w="25400">
            <a:solidFill>
              <a:srgbClr val="5DAFEA"/>
            </a:solidFill>
            <a:tailEnd type="triangle"/>
          </a:ln>
        </p:spPr>
      </p:cxnSp>
    </p:spTree>
  </p:cSld>
  <p:clrMapOvr>
    <a:masterClrMapping/>
  </p:clrMapOvr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DB Connection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1097280"/>
            <a:ext cx="4389120" cy="2286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800" dirty="0">
                <a:solidFill>
                  <a:srgbClr val="17324D"/>
                </a:solidFill>
                <a:latin typeface="Malgun Gothic"/>
                <a:ea typeface="Malgun Gothic"/>
              </a:rPr>
              <a:t>Aiven MySQL 연결 정보는 .env를 우선 사용</a:t>
            </a:r>
          </a:p>
          <a:p>
            <a:pPr marL="228600" indent="-171450" algn="l">
              <a:buChar char="•"/>
            </a:pPr>
            <a:r>
              <a:rPr lang="ko-KR" sz="1800" dirty="0">
                <a:solidFill>
                  <a:srgbClr val="17324D"/>
                </a:solidFill>
                <a:latin typeface="Malgun Gothic"/>
                <a:ea typeface="Malgun Gothic"/>
              </a:rPr>
              <a:t>mysql2/promise 기반 커넥션 풀 생성</a:t>
            </a:r>
          </a:p>
          <a:p>
            <a:pPr marL="228600" indent="-171450" algn="l">
              <a:buChar char="•"/>
            </a:pPr>
            <a:r>
              <a:rPr lang="ko-KR" sz="1800" dirty="0">
                <a:solidFill>
                  <a:srgbClr val="17324D"/>
                </a:solidFill>
                <a:latin typeface="Malgun Gothic"/>
                <a:ea typeface="Malgun Gothic"/>
              </a:rPr>
              <a:t>모든 repository에서 dbPool을 공유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777240" y="4160520"/>
            <a:ext cx="4297680" cy="822960"/>
          </a:xfrm>
          <a:prstGeom prst="roundRect">
            <a:avLst/>
          </a:prstGeom>
          <a:solidFill>
            <a:srgbClr val="DDF1FF">
              <a:alpha val="100000"/>
            </a:srgbClr>
          </a:solidFill>
          <a:ln w="12700">
            <a:solidFill>
              <a:srgbClr val="9BD6FF"/>
            </a:solidFill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500" dirty="0">
                <a:solidFill>
                  <a:srgbClr val="0F3D66"/>
                </a:solidFill>
                <a:latin typeface="Malgun Gothic"/>
                <a:ea typeface="Malgun Gothic"/>
              </a:rPr>
              <a:t>캡처 코드: 01_db_connection_pool.png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005840"/>
            <a:ext cx="5943600" cy="502920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</p:spTree>
  </p:cSld>
  <p:clrMapOvr>
    <a:masterClrMapping/>
  </p:clrMapOvr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Personal Survey Result API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685800" y="1051560"/>
            <a:ext cx="3657600" cy="24688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700" dirty="0">
                <a:solidFill>
                  <a:srgbClr val="17324D"/>
                </a:solidFill>
                <a:latin typeface="Malgun Gothic"/>
                <a:ea typeface="Malgun Gothic"/>
              </a:rPr>
              <a:t>쿠키 id로 현재 참여자 식별</a:t>
            </a:r>
          </a:p>
          <a:p>
            <a:pPr marL="228600" indent="-171450" algn="l">
              <a:buChar char="•"/>
            </a:pPr>
            <a:r>
              <a:rPr lang="ko-KR" sz="1700" dirty="0">
                <a:solidFill>
                  <a:srgbClr val="17324D"/>
                </a:solidFill>
                <a:latin typeface="Malgun Gothic"/>
                <a:ea typeface="Malgun Gothic"/>
              </a:rPr>
              <a:t>scene/response/option/participant 조인</a:t>
            </a:r>
          </a:p>
          <a:p>
            <a:pPr marL="228600" indent="-171450" algn="l">
              <a:buChar char="•"/>
            </a:pPr>
            <a:r>
              <a:rPr lang="ko-KR" sz="1700" dirty="0">
                <a:solidFill>
                  <a:srgbClr val="17324D"/>
                </a:solidFill>
                <a:latin typeface="Malgun Gothic"/>
                <a:ea typeface="Malgun Gothic"/>
              </a:rPr>
              <a:t>총점과 AI 분석 결과를 함께 반환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713232" y="3931920"/>
            <a:ext cx="3566160" cy="594360"/>
          </a:xfrm>
          <a:prstGeom prst="roundRect">
            <a:avLst/>
          </a:prstGeom>
          <a:solidFill>
            <a:srgbClr val="DDF1FF">
              <a:alpha val="100000"/>
            </a:srgbClr>
          </a:solidFill>
          <a:ln w="12700">
            <a:solidFill>
              <a:srgbClr val="9BD6FF"/>
            </a:solidFill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400" dirty="0">
                <a:solidFill>
                  <a:srgbClr val="0F3D66"/>
                </a:solidFill>
                <a:latin typeface="Malgun Gothic"/>
                <a:ea typeface="Malgun Gothic"/>
              </a:rPr>
              <a:t>02_personal_survey_join.png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987552"/>
            <a:ext cx="2331720" cy="507492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005840"/>
            <a:ext cx="4434840" cy="502920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</p:spTree>
  </p:cSld>
  <p:clrMapOvr>
    <a:masterClrMapping/>
  </p:clrMapOvr>
</p:sld>
</file>

<file path=ppt\slides\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Statistics SQL Grouping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685800" y="1005840"/>
            <a:ext cx="4023360" cy="29260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700" dirty="0">
                <a:solidFill>
                  <a:srgbClr val="17324D"/>
                </a:solidFill>
                <a:latin typeface="Malgun Gothic"/>
                <a:ea typeface="Malgun Gothic"/>
              </a:rPr>
              <a:t>age를 10단위 연령대로 그룹화</a:t>
            </a:r>
          </a:p>
          <a:p>
            <a:pPr marL="228600" indent="-171450" algn="l">
              <a:buChar char="•"/>
            </a:pPr>
            <a:r>
              <a:rPr lang="ko-KR" sz="1700" dirty="0">
                <a:solidFill>
                  <a:srgbClr val="17324D"/>
                </a:solidFill>
                <a:latin typeface="Malgun Gothic"/>
                <a:ea typeface="Malgun Gothic"/>
              </a:rPr>
              <a:t>gender와 scene 기준 집계</a:t>
            </a:r>
          </a:p>
          <a:p>
            <a:pPr marL="228600" indent="-171450" algn="l">
              <a:buChar char="•"/>
            </a:pPr>
            <a:r>
              <a:rPr lang="ko-KR" sz="1700" dirty="0">
                <a:solidFill>
                  <a:srgbClr val="17324D"/>
                </a:solidFill>
                <a:latin typeface="Malgun Gothic"/>
                <a:ea typeface="Malgun Gothic"/>
              </a:rPr>
              <a:t>choice는 option_id, input은 answer_text_feeling 사용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868680"/>
            <a:ext cx="6583680" cy="544068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</p:spTree>
  </p:cSld>
  <p:clrMapOvr>
    <a:masterClrMapping/>
  </p:clrMapOvr>
</p:sld>
</file>

<file path=ppt\slides\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Statistics Payload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685800" y="1005840"/>
            <a:ext cx="4114800" cy="274320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700" dirty="0">
                <a:solidFill>
                  <a:srgbClr val="17324D"/>
                </a:solidFill>
                <a:latin typeface="Malgun Gothic"/>
                <a:ea typeface="Malgun Gothic"/>
              </a:rPr>
              <a:t>질문별 답변 count 합산</a:t>
            </a:r>
          </a:p>
          <a:p>
            <a:pPr marL="228600" indent="-171450" algn="l">
              <a:buChar char="•"/>
            </a:pPr>
            <a:r>
              <a:rPr lang="ko-KR" sz="1700" dirty="0">
                <a:solidFill>
                  <a:srgbClr val="17324D"/>
                </a:solidFill>
                <a:latin typeface="Malgun Gothic"/>
                <a:ea typeface="Malgun Gothic"/>
              </a:rPr>
              <a:t>percentage 계산</a:t>
            </a:r>
          </a:p>
          <a:p>
            <a:pPr marL="228600" indent="-171450" algn="l">
              <a:buChar char="•"/>
            </a:pPr>
            <a:r>
              <a:rPr lang="ko-KR" sz="1700" dirty="0">
                <a:solidFill>
                  <a:srgbClr val="17324D"/>
                </a:solidFill>
                <a:latin typeface="Malgun Gothic"/>
                <a:ea typeface="Malgun Gothic"/>
              </a:rPr>
              <a:t>3D 확장용 nodes/links와 원그래프용 summary 동시 반환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914400"/>
            <a:ext cx="3246120" cy="251460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914400"/>
            <a:ext cx="3154680" cy="251460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657600"/>
            <a:ext cx="2331720" cy="214884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</p:spTree>
  </p:cSld>
  <p:clrMapOvr>
    <a:masterClrMapping/>
  </p:clrMapOvr>
</p:sld>
</file>

<file path=ppt\slides\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Warm Chat Moderation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1097280"/>
            <a:ext cx="2286000" cy="685800"/>
          </a:xfrm>
          <a:prstGeom prst="roundRect">
            <a:avLst/>
          </a:prstGeom>
          <a:solidFill>
            <a:srgbClr val="DDF1FF">
              <a:alpha val="100000"/>
            </a:srgbClr>
          </a:solidFill>
          <a:ln w="12700">
            <a:solidFill>
              <a:srgbClr val="9BD6FF"/>
            </a:solidFill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6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입력 검증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3474720" y="1097280"/>
            <a:ext cx="2286000" cy="685800"/>
          </a:xfrm>
          <a:prstGeom prst="roundRect">
            <a:avLst/>
          </a:prstGeom>
          <a:solidFill>
            <a:srgbClr val="EAF7FF">
              <a:alpha val="100000"/>
            </a:srgbClr>
          </a:solidFill>
          <a:ln w="12700">
            <a:solidFill>
              <a:srgbClr val="9BD6FF"/>
            </a:solidFill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6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Trie 필터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6217920" y="1097280"/>
            <a:ext cx="2286000" cy="685800"/>
          </a:xfrm>
          <a:prstGeom prst="roundRect">
            <a:avLst/>
          </a:prstGeom>
          <a:solidFill>
            <a:srgbClr val="F3FBFF">
              <a:alpha val="100000"/>
            </a:srgbClr>
          </a:solidFill>
          <a:ln w="12700">
            <a:solidFill>
              <a:srgbClr val="9BD6FF"/>
            </a:solidFill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6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LLM RAG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961120" y="1097280"/>
            <a:ext cx="2286000" cy="685800"/>
          </a:xfrm>
          <a:prstGeom prst="roundRect">
            <a:avLst/>
          </a:prstGeom>
          <a:solidFill>
            <a:srgbClr val="FFFFFF">
              <a:alpha val="100000"/>
            </a:srgbClr>
          </a:solidFill>
          <a:ln w="12700">
            <a:solidFill>
              <a:srgbClr val="9BD6FF"/>
            </a:solidFill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6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DB 상태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77240" y="2743200"/>
            <a:ext cx="4663440" cy="21031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800" dirty="0">
                <a:solidFill>
                  <a:srgbClr val="17324D"/>
                </a:solidFill>
                <a:latin typeface="Malgun Gothic"/>
                <a:ea typeface="Malgun Gothic"/>
              </a:rPr>
              <a:t>명확한 금칙어는 LLM 호출 없이 즉시 차단</a:t>
            </a:r>
          </a:p>
          <a:p>
            <a:pPr marL="228600" indent="-171450" algn="l">
              <a:buChar char="•"/>
            </a:pPr>
            <a:r>
              <a:rPr lang="ko-KR" sz="1800" dirty="0">
                <a:solidFill>
                  <a:srgbClr val="17324D"/>
                </a:solidFill>
                <a:latin typeface="Malgun Gothic"/>
                <a:ea typeface="Malgun Gothic"/>
              </a:rPr>
              <a:t>문맥 판단은 GPT JSON 응답으로 처리</a:t>
            </a:r>
          </a:p>
          <a:p>
            <a:pPr marL="228600" indent="-171450" algn="l">
              <a:buChar char="•"/>
            </a:pPr>
            <a:r>
              <a:rPr lang="ko-KR" sz="1800" dirty="0">
                <a:solidFill>
                  <a:srgbClr val="17324D"/>
                </a:solidFill>
                <a:latin typeface="Malgun Gothic"/>
                <a:ea typeface="Malgun Gothic"/>
              </a:rPr>
              <a:t>PASS 메시지만 화면에 노출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331720"/>
            <a:ext cx="2423160" cy="379476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  <p:cxnSp>
        <p:nvCxnSpPr>
          <p:cNvPr id="11" name="Arrow 11"/>
          <p:cNvCxnSpPr/>
          <p:nvPr/>
        </p:nvCxnSpPr>
        <p:spPr>
          <a:xfrm>
            <a:off x="3017520" y="1444752"/>
            <a:ext cx="457200" cy="0"/>
          </a:xfrm>
          <a:prstGeom prst="line">
            <a:avLst/>
          </a:prstGeom>
          <a:ln w="25400">
            <a:solidFill>
              <a:srgbClr val="5DAFEA"/>
            </a:solidFill>
            <a:tailEnd type="triangle"/>
          </a:ln>
        </p:spPr>
      </p:cxnSp>
      <p:cxnSp>
        <p:nvCxnSpPr>
          <p:cNvPr id="12" name="Arrow 12"/>
          <p:cNvCxnSpPr/>
          <p:nvPr/>
        </p:nvCxnSpPr>
        <p:spPr>
          <a:xfrm>
            <a:off x="5760720" y="1444752"/>
            <a:ext cx="457200" cy="0"/>
          </a:xfrm>
          <a:prstGeom prst="line">
            <a:avLst/>
          </a:prstGeom>
          <a:ln w="25400">
            <a:solidFill>
              <a:srgbClr val="5DAFEA"/>
            </a:solidFill>
            <a:tailEnd type="triangle"/>
          </a:ln>
        </p:spPr>
      </p:cxnSp>
      <p:cxnSp>
        <p:nvCxnSpPr>
          <p:cNvPr id="13" name="Arrow 13"/>
          <p:cNvCxnSpPr/>
          <p:nvPr/>
        </p:nvCxnSpPr>
        <p:spPr>
          <a:xfrm>
            <a:off x="8503920" y="1444752"/>
            <a:ext cx="457200" cy="0"/>
          </a:xfrm>
          <a:prstGeom prst="line">
            <a:avLst/>
          </a:prstGeom>
          <a:ln w="25400">
            <a:solidFill>
              <a:srgbClr val="5DAFEA"/>
            </a:solidFill>
            <a:tailEnd type="triangle"/>
          </a:ln>
        </p:spPr>
      </p:cxnSp>
    </p:spTree>
  </p:cSld>
  <p:clrMapOvr>
    <a:masterClrMapping/>
  </p:clrMapOvr>
</p:sld>
</file>

<file path=ppt\slides\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RAG Filter Code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685800" y="960120"/>
            <a:ext cx="3200400" cy="25603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700" dirty="0">
                <a:solidFill>
                  <a:srgbClr val="17324D"/>
                </a:solidFill>
                <a:latin typeface="Malgun Gothic"/>
                <a:ea typeface="Malgun Gothic"/>
              </a:rPr>
              <a:t>1차 Trie 필터</a:t>
            </a:r>
          </a:p>
          <a:p>
            <a:pPr marL="228600" indent="-171450" algn="l">
              <a:buChar char="•"/>
            </a:pPr>
            <a:r>
              <a:rPr lang="ko-KR" sz="1700" dirty="0">
                <a:solidFill>
                  <a:srgbClr val="17324D"/>
                </a:solidFill>
                <a:latin typeface="Malgun Gothic"/>
                <a:ea typeface="Malgun Gothic"/>
              </a:rPr>
              <a:t>2차 GPT-4o mini RAG</a:t>
            </a:r>
          </a:p>
          <a:p>
            <a:pPr marL="228600" indent="-171450" algn="l">
              <a:buChar char="•"/>
            </a:pPr>
            <a:r>
              <a:rPr lang="ko-KR" sz="1700" dirty="0">
                <a:solidFill>
                  <a:srgbClr val="17324D"/>
                </a:solidFill>
                <a:latin typeface="Malgun Gothic"/>
                <a:ea typeface="Malgun Gothic"/>
              </a:rPr>
              <a:t>JSON.parse 결과를 DB 정책과 연결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868680"/>
            <a:ext cx="3474720" cy="251460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868680"/>
            <a:ext cx="3611880" cy="251460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3611880"/>
            <a:ext cx="7315200" cy="224028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</p:spTree>
  </p:cSld>
  <p:clrMapOvr>
    <a:masterClrMapping/>
  </p:clrMapOvr>
</p:sld>
</file>

<file path=ppt\slides\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Async Pipeline &amp; Recovery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685800" y="960120"/>
            <a:ext cx="3383280" cy="283464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700" dirty="0">
                <a:solidFill>
                  <a:srgbClr val="17324D"/>
                </a:solidFill>
                <a:latin typeface="Malgun Gothic"/>
                <a:ea typeface="Malgun Gothic"/>
              </a:rPr>
              <a:t>메시지는 먼저 PENDING 저장</a:t>
            </a:r>
          </a:p>
          <a:p>
            <a:pPr marL="228600" indent="-171450" algn="l">
              <a:buChar char="•"/>
            </a:pPr>
            <a:r>
              <a:rPr lang="ko-KR" sz="1700" dirty="0">
                <a:solidFill>
                  <a:srgbClr val="17324D"/>
                </a:solidFill>
                <a:latin typeface="Malgun Gothic"/>
                <a:ea typeface="Malgun Gothic"/>
              </a:rPr>
              <a:t>검열은 백그라운드 처리</a:t>
            </a:r>
          </a:p>
          <a:p>
            <a:pPr marL="228600" indent="-171450" algn="l">
              <a:buChar char="•"/>
            </a:pPr>
            <a:r>
              <a:rPr lang="ko-KR" sz="1700" dirty="0">
                <a:solidFill>
                  <a:srgbClr val="17324D"/>
                </a:solidFill>
                <a:latin typeface="Malgun Gothic"/>
                <a:ea typeface="Malgun Gothic"/>
              </a:rPr>
              <a:t>서버 재시작 시 PENDING 재처리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914400"/>
            <a:ext cx="3931920" cy="489204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914400"/>
            <a:ext cx="3017520" cy="224028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3429000"/>
            <a:ext cx="3017520" cy="237744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</p:spTree>
  </p:cSld>
  <p:clrMapOvr>
    <a:masterClrMapping/>
  </p:clrMapOvr>
</p:sld>
</file>

<file path=ppt\slides\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Step2 3D Scene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685800" y="1005840"/>
            <a:ext cx="4023360" cy="274320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800" dirty="0">
                <a:solidFill>
                  <a:srgbClr val="17324D"/>
                </a:solidFill>
                <a:latin typeface="Malgun Gothic"/>
                <a:ea typeface="Malgun Gothic"/>
              </a:rPr>
              <a:t>React Three Fiber Canvas</a:t>
            </a:r>
          </a:p>
          <a:p>
            <a:pPr marL="228600" indent="-171450" algn="l">
              <a:buChar char="•"/>
            </a:pPr>
            <a:r>
              <a:rPr lang="ko-KR" sz="1800" dirty="0">
                <a:solidFill>
                  <a:srgbClr val="17324D"/>
                </a:solidFill>
                <a:latin typeface="Malgun Gothic"/>
                <a:ea typeface="Malgun Gothic"/>
              </a:rPr>
              <a:t>Drei ScrollControls / Environment</a:t>
            </a:r>
          </a:p>
          <a:p>
            <a:pPr marL="228600" indent="-171450" algn="l">
              <a:buChar char="•"/>
            </a:pPr>
            <a:r>
              <a:rPr lang="ko-KR" sz="1800" dirty="0">
                <a:solidFill>
                  <a:srgbClr val="17324D"/>
                </a:solidFill>
                <a:latin typeface="Malgun Gothic"/>
                <a:ea typeface="Malgun Gothic"/>
              </a:rPr>
              <a:t>스크롤과 포인터 입력에 반응하는 심해 입자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868680"/>
            <a:ext cx="2560320" cy="553212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868680"/>
            <a:ext cx="2560320" cy="553212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</p:spTree>
  </p:cSld>
  <p:clrMapOvr>
    <a:masterClrMapping/>
  </p:clrMapOvr>
</p:sld>
</file>

<file path=ppt\slides\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3D Animation Code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685800" y="1005840"/>
            <a:ext cx="3108960" cy="310896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700" dirty="0">
                <a:solidFill>
                  <a:srgbClr val="17324D"/>
                </a:solidFill>
                <a:latin typeface="Malgun Gothic"/>
                <a:ea typeface="Malgun Gothic"/>
              </a:rPr>
              <a:t>useFrame으로 매 프레임 갱신</a:t>
            </a:r>
          </a:p>
          <a:p>
            <a:pPr marL="228600" indent="-171450" algn="l">
              <a:buChar char="•"/>
            </a:pPr>
            <a:r>
              <a:rPr lang="ko-KR" sz="1700" dirty="0">
                <a:solidFill>
                  <a:srgbClr val="17324D"/>
                </a:solidFill>
                <a:latin typeface="Malgun Gothic"/>
                <a:ea typeface="Malgun Gothic"/>
              </a:rPr>
              <a:t>instancedMesh로 다수 구체 최적화</a:t>
            </a:r>
          </a:p>
          <a:p>
            <a:pPr marL="228600" indent="-171450" algn="l">
              <a:buChar char="•"/>
            </a:pPr>
            <a:r>
              <a:rPr lang="ko-KR" sz="1700" dirty="0">
                <a:solidFill>
                  <a:srgbClr val="17324D"/>
                </a:solidFill>
                <a:latin typeface="Malgun Gothic"/>
                <a:ea typeface="Malgun Gothic"/>
              </a:rPr>
              <a:t>Canvas 씬에서 카메라/조명/환경 구성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868680"/>
            <a:ext cx="3657600" cy="539496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868680"/>
            <a:ext cx="3566160" cy="274320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3794760"/>
            <a:ext cx="3566160" cy="246888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</p:spTree>
  </p:cSld>
  <p:clrMapOvr>
    <a:masterClrMapping/>
  </p:clrMapOvr>
</p:sld>
</file>

<file path=ppt\slides\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Step3 Statistics UI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685800" y="1005840"/>
            <a:ext cx="3474720" cy="283464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700" dirty="0">
                <a:solidFill>
                  <a:srgbClr val="17324D"/>
                </a:solidFill>
                <a:latin typeface="Malgun Gothic"/>
                <a:ea typeface="Malgun Gothic"/>
              </a:rPr>
              <a:t>참여자 1명 = 입자 1개</a:t>
            </a:r>
          </a:p>
          <a:p>
            <a:pPr marL="228600" indent="-171450" algn="l">
              <a:buChar char="•"/>
            </a:pPr>
            <a:r>
              <a:rPr lang="ko-KR" sz="1700" dirty="0">
                <a:solidFill>
                  <a:srgbClr val="17324D"/>
                </a:solidFill>
                <a:latin typeface="Malgun Gothic"/>
                <a:ea typeface="Malgun Gothic"/>
              </a:rPr>
              <a:t>Matter.js 물리 엔진으로 낙하/누적 표현</a:t>
            </a:r>
          </a:p>
          <a:p>
            <a:pPr marL="228600" indent="-171450" algn="l">
              <a:buChar char="•"/>
            </a:pPr>
            <a:r>
              <a:rPr lang="ko-KR" sz="1700" dirty="0">
                <a:solidFill>
                  <a:srgbClr val="17324D"/>
                </a:solidFill>
                <a:latin typeface="Malgun Gothic"/>
                <a:ea typeface="Malgun Gothic"/>
              </a:rPr>
              <a:t>문항별 원그래프로 상세 비율 제공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868680"/>
            <a:ext cx="2331720" cy="507492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868680"/>
            <a:ext cx="2331720" cy="507492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1234440"/>
            <a:ext cx="2194560" cy="416052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</p:spTree>
  </p:cSld>
  <p:clrMapOvr>
    <a:masterClrMapping/>
  </p:clrMapOvr>
</p:sld>
</file>

<file path=ppt\slides\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Cookie Personalization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685800" y="1005840"/>
            <a:ext cx="3840480" cy="274320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800" dirty="0">
                <a:solidFill>
                  <a:srgbClr val="17324D"/>
                </a:solidFill>
                <a:latin typeface="Malgun Gothic"/>
                <a:ea typeface="Malgun Gothic"/>
              </a:rPr>
              <a:t>isolation_user_info 쿠키 사용</a:t>
            </a:r>
          </a:p>
          <a:p>
            <a:pPr marL="228600" indent="-171450" algn="l">
              <a:buChar char="•"/>
            </a:pPr>
            <a:r>
              <a:rPr lang="ko-KR" sz="1800" dirty="0">
                <a:solidFill>
                  <a:srgbClr val="17324D"/>
                </a:solidFill>
                <a:latin typeface="Malgun Gothic"/>
                <a:ea typeface="Malgun Gothic"/>
              </a:rPr>
              <a:t>id로 개인 결과와 내 메시지 조회</a:t>
            </a:r>
          </a:p>
          <a:p>
            <a:pPr marL="228600" indent="-171450" algn="l">
              <a:buChar char="•"/>
            </a:pPr>
            <a:r>
              <a:rPr lang="ko-KR" sz="1800" dirty="0">
                <a:solidFill>
                  <a:srgbClr val="17324D"/>
                </a:solidFill>
                <a:latin typeface="Malgun Gothic"/>
                <a:ea typeface="Malgun Gothic"/>
              </a:rPr>
              <a:t>generation으로 Step2 콘텐츠 분기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60120"/>
            <a:ext cx="3703320" cy="489204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960120"/>
            <a:ext cx="2331720" cy="5029200"/>
          </a:xfrm>
          <a:prstGeom prst="rect">
            <a:avLst/>
          </a:prstGeom>
          <a:ln w="12700">
            <a:solidFill>
              <a:srgbClr val="C7E6FF"/>
            </a:solidFill>
          </a:ln>
        </p:spPr>
      </p:pic>
    </p:spTree>
  </p:cSld>
  <p:clrMapOvr>
    <a:masterClrMapping/>
  </p:clrMapOvr>
</p:sld>
</file>

<file path=ppt\slides\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Troubleshooting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822960" y="1051560"/>
            <a:ext cx="10241280" cy="43891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900" dirty="0">
                <a:solidFill>
                  <a:srgbClr val="17324D"/>
                </a:solidFill>
                <a:latin typeface="Malgun Gothic"/>
                <a:ea typeface="Malgun Gothic"/>
              </a:rPr>
              <a:t>통계 fallback 혼용 문제: API 성공 시에만 DB 데이터 사용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17324D"/>
                </a:solidFill>
                <a:latin typeface="Malgun Gothic"/>
                <a:ea typeface="Malgun Gothic"/>
              </a:rPr>
              <a:t>SCENE_0 개인정보 문항 노출 문제: 통계/결과 화면에서 제외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17324D"/>
                </a:solidFill>
                <a:latin typeface="Malgun Gothic"/>
                <a:ea typeface="Malgun Gothic"/>
              </a:rPr>
              <a:t>주관식 통계 분산 문제: answer_text_feeling 도입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17324D"/>
                </a:solidFill>
                <a:latin typeface="Malgun Gothic"/>
                <a:ea typeface="Malgun Gothic"/>
              </a:rPr>
              <a:t>LLM 실패/파싱 오류 문제: FAIL 기본값과 PENDING 복구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17324D"/>
                </a:solidFill>
                <a:latin typeface="Malgun Gothic"/>
                <a:ea typeface="Malgun Gothic"/>
              </a:rPr>
              <a:t>모바일 자이로/오디오 정책 문제: 사용자 제스처와 안내 UI로 흐름 재설계</a:t>
            </a:r>
          </a:p>
        </p:txBody>
      </p:sp>
    </p:spTree>
  </p:cSld>
  <p:clrMapOvr>
    <a:masterClrMapping/>
  </p:clrMapOvr>
</p:sld>
</file>

<file path=ppt\slides\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Troubleshooting: 로그인 없는 개인 식별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1051560"/>
            <a:ext cx="2286000" cy="594360"/>
          </a:xfrm>
          <a:prstGeom prst="roundRect">
            <a:avLst/>
          </a:prstGeom>
          <a:solidFill>
            <a:srgbClr val="DDF1FF">
              <a:alpha val="100000"/>
            </a:srgbClr>
          </a:solidFill>
          <a:ln w="12700">
            <a:solidFill>
              <a:srgbClr val="9BD6FF"/>
            </a:solidFill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6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Situation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731520" y="1783080"/>
            <a:ext cx="5212080" cy="1051560"/>
          </a:xfrm>
          <a:prstGeom prst="roundRect">
            <a:avLst/>
          </a:prstGeom>
          <a:solidFill>
            <a:srgbClr val="FFFFFF">
              <a:alpha val="100000"/>
            </a:srgbClr>
          </a:solidFill>
          <a:ln w="12700">
            <a:solidFill>
              <a:srgbClr val="C7E6FF"/>
            </a:solidFill>
          </a:ln>
        </p:spPr>
        <p:txBody>
          <a:bodyPr wrap="square" lIns="109728" tIns="73152" rIns="109728" bIns="73152" anchor="top"/>
          <a:lstStyle/>
          <a:p>
            <a:pPr marL="0" indent="0" algn="l">
              <a:buNone/>
            </a:pPr>
            <a:r>
              <a:rPr lang="ko-KR" sz="1500" dirty="0">
                <a:solidFill>
                  <a:srgbClr val="17324D"/>
                </a:solidFill>
                <a:latin typeface="Malgun Gothic"/>
                <a:ea typeface="Malgun Gothic"/>
              </a:rPr>
              <a:t>고립 척도 검사 결과를 재방문 시 다시 보여주려면 사용자 식별 Key가 필요했지만, 오픈형 콘텐츠라 로그인 체계가 없었습니다.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6263640" y="1051560"/>
            <a:ext cx="2286000" cy="594360"/>
          </a:xfrm>
          <a:prstGeom prst="roundRect">
            <a:avLst/>
          </a:prstGeom>
          <a:solidFill>
            <a:srgbClr val="DDF1FF">
              <a:alpha val="100000"/>
            </a:srgbClr>
          </a:solidFill>
          <a:ln w="12700">
            <a:solidFill>
              <a:srgbClr val="9BD6FF"/>
            </a:solidFill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6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Task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6263640" y="1783080"/>
            <a:ext cx="5212080" cy="1051560"/>
          </a:xfrm>
          <a:prstGeom prst="roundRect">
            <a:avLst/>
          </a:prstGeom>
          <a:solidFill>
            <a:srgbClr val="FFFFFF">
              <a:alpha val="100000"/>
            </a:srgbClr>
          </a:solidFill>
          <a:ln w="12700">
            <a:solidFill>
              <a:srgbClr val="C7E6FF"/>
            </a:solidFill>
          </a:ln>
        </p:spPr>
        <p:txBody>
          <a:bodyPr wrap="square" lIns="109728" tIns="73152" rIns="109728" bIns="73152" anchor="top"/>
          <a:lstStyle/>
          <a:p>
            <a:pPr marL="0" indent="0" algn="l">
              <a:buNone/>
            </a:pPr>
            <a:r>
              <a:rPr lang="ko-KR" sz="1500" dirty="0">
                <a:solidFill>
                  <a:srgbClr val="17324D"/>
                </a:solidFill>
                <a:latin typeface="Malgun Gothic"/>
                <a:ea typeface="Malgun Gothic"/>
              </a:rPr>
              <a:t>전화번호/이메일 수집은 접근성을 해치고 심리적 거부감을 만들 수 있어, 최소 정보로 식별 가능한 구조가 필요했습니다.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31520" y="3246120"/>
            <a:ext cx="2286000" cy="594360"/>
          </a:xfrm>
          <a:prstGeom prst="roundRect">
            <a:avLst/>
          </a:prstGeom>
          <a:solidFill>
            <a:srgbClr val="DDF1FF">
              <a:alpha val="100000"/>
            </a:srgbClr>
          </a:solidFill>
          <a:ln w="12700">
            <a:solidFill>
              <a:srgbClr val="9BD6FF"/>
            </a:solidFill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6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Action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731520" y="3977640"/>
            <a:ext cx="5212080" cy="1325880"/>
          </a:xfrm>
          <a:prstGeom prst="roundRect">
            <a:avLst/>
          </a:prstGeom>
          <a:solidFill>
            <a:srgbClr val="FFFFFF">
              <a:alpha val="100000"/>
            </a:srgbClr>
          </a:solidFill>
          <a:ln w="12700">
            <a:solidFill>
              <a:srgbClr val="C7E6FF"/>
            </a:solidFill>
          </a:ln>
        </p:spPr>
        <p:txBody>
          <a:bodyPr wrap="square" lIns="109728" tIns="73152" rIns="109728" bIns="73152" anchor="top"/>
          <a:lstStyle/>
          <a:p>
            <a:pPr marL="0" indent="0" algn="l">
              <a:buNone/>
            </a:pPr>
            <a:r>
              <a:rPr lang="ko-KR" sz="1500" dirty="0">
                <a:solidFill>
                  <a:srgbClr val="17324D"/>
                </a:solidFill>
                <a:latin typeface="Malgun Gothic"/>
                <a:ea typeface="Malgun Gothic"/>
              </a:rPr>
              <a:t>이메일/전화번호 수집을 철회하고 이름, 나이, 성별 조합을 복합 키로 활용했습니다. 완벽한 유일성보다 콘텐츠의 가벼운 UX와 데이터 매칭 균형을 우선했습니다.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63640" y="3246120"/>
            <a:ext cx="2286000" cy="594360"/>
          </a:xfrm>
          <a:prstGeom prst="roundRect">
            <a:avLst/>
          </a:prstGeom>
          <a:solidFill>
            <a:srgbClr val="DDF1FF">
              <a:alpha val="100000"/>
            </a:srgbClr>
          </a:solidFill>
          <a:ln w="12700">
            <a:solidFill>
              <a:srgbClr val="9BD6FF"/>
            </a:solidFill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6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Result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6263640" y="3977640"/>
            <a:ext cx="5212080" cy="1325880"/>
          </a:xfrm>
          <a:prstGeom prst="roundRect">
            <a:avLst/>
          </a:prstGeom>
          <a:solidFill>
            <a:srgbClr val="FFFFFF">
              <a:alpha val="100000"/>
            </a:srgbClr>
          </a:solidFill>
          <a:ln w="12700">
            <a:solidFill>
              <a:srgbClr val="C7E6FF"/>
            </a:solidFill>
          </a:ln>
        </p:spPr>
        <p:txBody>
          <a:bodyPr wrap="square" lIns="109728" tIns="73152" rIns="109728" bIns="73152" anchor="top"/>
          <a:lstStyle/>
          <a:p>
            <a:pPr marL="0" indent="0" algn="l">
              <a:buNone/>
            </a:pPr>
            <a:r>
              <a:rPr lang="ko-KR" sz="1500" dirty="0">
                <a:solidFill>
                  <a:srgbClr val="17324D"/>
                </a:solidFill>
                <a:latin typeface="Malgun Gothic"/>
                <a:ea typeface="Malgun Gothic"/>
              </a:rPr>
              <a:t>개인정보 부담을 줄여 참여 허들을 낮추고, 복잡한 가입 없이도 재방문 결과 조회와 공유가 가능한 최소 개인화 흐름을 확보했습니다.</a:t>
            </a:r>
          </a:p>
        </p:txBody>
      </p:sp>
    </p:spTree>
  </p:cSld>
  <p:clrMapOvr>
    <a:masterClrMapping/>
  </p:clrMapOvr>
</p:sld>
</file>

<file path=ppt\slides\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0F3D66"/>
                </a:solidFill>
                <a:latin typeface="Malgun Gothic"/>
                <a:ea typeface="Malgun Gothic"/>
              </a:rPr>
              <a:t>Code Capture Index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594360" y="914400"/>
            <a:ext cx="548640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600" dirty="0">
                <a:solidFill>
                  <a:srgbClr val="17324D"/>
                </a:solidFill>
                <a:latin typeface="Malgun Gothic"/>
                <a:ea typeface="Malgun Gothic"/>
              </a:rPr>
              <a:t>DB: 01_db_connection_pool.png</a:t>
            </a:r>
          </a:p>
          <a:p>
            <a:pPr marL="228600" indent="-171450" algn="l">
              <a:buChar char="•"/>
            </a:pPr>
            <a:r>
              <a:rPr lang="ko-KR" sz="1600" dirty="0">
                <a:solidFill>
                  <a:srgbClr val="17324D"/>
                </a:solidFill>
                <a:latin typeface="Malgun Gothic"/>
                <a:ea typeface="Malgun Gothic"/>
              </a:rPr>
              <a:t>개인 결과: 02_personal_survey_join.png</a:t>
            </a:r>
          </a:p>
          <a:p>
            <a:pPr marL="228600" indent="-171450" algn="l">
              <a:buChar char="•"/>
            </a:pPr>
            <a:r>
              <a:rPr lang="ko-KR" sz="1600" dirty="0">
                <a:solidFill>
                  <a:srgbClr val="17324D"/>
                </a:solidFill>
                <a:latin typeface="Malgun Gothic"/>
                <a:ea typeface="Malgun Gothic"/>
              </a:rPr>
              <a:t>통계 SQL: 03_statistics_sql_grouping.png</a:t>
            </a:r>
          </a:p>
          <a:p>
            <a:pPr marL="228600" indent="-171450" algn="l">
              <a:buChar char="•"/>
            </a:pPr>
            <a:r>
              <a:rPr lang="ko-KR" sz="1600" dirty="0">
                <a:solidFill>
                  <a:srgbClr val="17324D"/>
                </a:solidFill>
                <a:latin typeface="Malgun Gothic"/>
                <a:ea typeface="Malgun Gothic"/>
              </a:rPr>
              <a:t>통계 계산: 04, 05</a:t>
            </a:r>
          </a:p>
          <a:p>
            <a:pPr marL="228600" indent="-171450" algn="l">
              <a:buChar char="•"/>
            </a:pPr>
            <a:r>
              <a:rPr lang="ko-KR" sz="1600" dirty="0">
                <a:solidFill>
                  <a:srgbClr val="17324D"/>
                </a:solidFill>
                <a:latin typeface="Malgun Gothic"/>
                <a:ea typeface="Malgun Gothic"/>
              </a:rPr>
              <a:t>RAG/검열: 06, 07, 08, 09, 10</a:t>
            </a:r>
          </a:p>
          <a:p>
            <a:pPr marL="228600" indent="-171450" algn="l">
              <a:buChar char="•"/>
            </a:pPr>
            <a:r>
              <a:rPr lang="ko-KR" sz="1600" dirty="0">
                <a:solidFill>
                  <a:srgbClr val="17324D"/>
                </a:solidFill>
                <a:latin typeface="Malgun Gothic"/>
                <a:ea typeface="Malgun Gothic"/>
              </a:rPr>
              <a:t>Trie: 11, 12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6309360" y="914400"/>
            <a:ext cx="530352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600" dirty="0">
                <a:solidFill>
                  <a:srgbClr val="17324D"/>
                </a:solidFill>
                <a:latin typeface="Malgun Gothic"/>
                <a:ea typeface="Malgun Gothic"/>
              </a:rPr>
              <a:t>3D: 13_step2_3d_bubbles_useframe.png</a:t>
            </a:r>
          </a:p>
          <a:p>
            <a:pPr marL="228600" indent="-171450" algn="l">
              <a:buChar char="•"/>
            </a:pPr>
            <a:r>
              <a:rPr lang="ko-KR" sz="1600" dirty="0">
                <a:solidFill>
                  <a:srgbClr val="17324D"/>
                </a:solidFill>
                <a:latin typeface="Malgun Gothic"/>
                <a:ea typeface="Malgun Gothic"/>
              </a:rPr>
              <a:t>3D Canvas: 14_step2_3d_canvas_scene.png</a:t>
            </a:r>
          </a:p>
          <a:p>
            <a:pPr marL="228600" indent="-171450" algn="l">
              <a:buChar char="•"/>
            </a:pPr>
            <a:r>
              <a:rPr lang="ko-KR" sz="1600" dirty="0">
                <a:solidFill>
                  <a:srgbClr val="17324D"/>
                </a:solidFill>
                <a:latin typeface="Malgun Gothic"/>
                <a:ea typeface="Malgun Gothic"/>
              </a:rPr>
              <a:t>자이로: 15_step2_mobile_gyro_permission.png</a:t>
            </a:r>
          </a:p>
          <a:p>
            <a:pPr marL="228600" indent="-171450" algn="l">
              <a:buChar char="•"/>
            </a:pPr>
            <a:r>
              <a:rPr lang="ko-KR" sz="1600" dirty="0">
                <a:solidFill>
                  <a:srgbClr val="17324D"/>
                </a:solidFill>
                <a:latin typeface="Malgun Gothic"/>
                <a:ea typeface="Malgun Gothic"/>
              </a:rPr>
              <a:t>채팅 개인화: 16_step3_cookie_chat_personalization.png</a:t>
            </a:r>
          </a:p>
          <a:p>
            <a:pPr marL="228600" indent="-171450" algn="l">
              <a:buChar char="•"/>
            </a:pPr>
            <a:r>
              <a:rPr lang="ko-KR" sz="1600" dirty="0">
                <a:solidFill>
                  <a:srgbClr val="17324D"/>
                </a:solidFill>
                <a:latin typeface="Malgun Gothic"/>
                <a:ea typeface="Malgun Gothic"/>
              </a:rPr>
              <a:t>Matter 통계: 17_step3_matter_participant_particles.png</a:t>
            </a:r>
          </a:p>
          <a:p>
            <a:pPr marL="228600" indent="-171450" algn="l">
              <a:buChar char="•"/>
            </a:pPr>
            <a:r>
              <a:rPr lang="ko-KR" sz="1600" dirty="0">
                <a:solidFill>
                  <a:srgbClr val="17324D"/>
                </a:solidFill>
                <a:latin typeface="Malgun Gothic"/>
                <a:ea typeface="Malgun Gothic"/>
              </a:rPr>
              <a:t>화면 캡처: screen_01 ~ screen_08</a:t>
            </a:r>
          </a:p>
        </p:txBody>
      </p:sp>
    </p:spTree>
  </p:cSld>
  <p:clrMapOvr>
    <a:masterClrMapping/>
  </p:clrMapOvr>
</p:sld>
</file>

<file path=ppt\theme\theme1.xml><?xml version="1.0" encoding="utf-8"?>
<a:theme xmlns:a="http://schemas.openxmlformats.org/drawingml/2006/main" name="CodexTheme">
  <a:themeElements>
    <a:clrScheme name="Codex">
      <a:dk1>
        <a:srgbClr val="101820"/>
      </a:dk1>
      <a:lt1>
        <a:srgbClr val="FFFFFF"/>
      </a:lt1>
      <a:dk2>
        <a:srgbClr val="1B263B"/>
      </a:dk2>
      <a:lt2>
        <a:srgbClr val="F4F8FF"/>
      </a:lt2>
      <a:accent1>
        <a:srgbClr val="37B7FF"/>
      </a:accent1>
      <a:accent2>
        <a:srgbClr val="60D394"/>
      </a:accent2>
      <a:accent3>
        <a:srgbClr val="FFD166"/>
      </a:accent3>
      <a:accent4>
        <a:srgbClr val="EF476F"/>
      </a:accent4>
      <a:accent5>
        <a:srgbClr val="8E7CFF"/>
      </a:accent5>
      <a:accent6>
        <a:srgbClr val="06D6A0"/>
      </a:accent6>
      <a:hlink>
        <a:srgbClr val="37B7FF"/>
      </a:hlink>
      <a:folHlink>
        <a:srgbClr val="8E7CFF"/>
      </a:folHlink>
    </a:clrScheme>
    <a:fontScheme name="Malgun">
      <a:majorFont>
        <a:latin typeface="Malgun Gothic"/>
        <a:ea typeface="Malgun Gothic"/>
      </a:majorFont>
      <a:minorFont>
        <a:latin typeface="Malgun Gothic"/>
        <a:ea typeface="Malgun Gothic"/>
      </a:minorFont>
    </a:fontScheme>
    <a:fmtScheme name="Default">
      <a:fillStyleLst/>
      <a:lnStyleLst/>
      <a:effectStyleLst/>
      <a:bgFillStyleLst/>
    </a:fmtScheme>
  </a:themeElements>
</a:theme>
</file>