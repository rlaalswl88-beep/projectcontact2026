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\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docProps\app.xml><?xml version="1.0" encoding="utf-8"?>
<Properties xmlns="http://schemas.openxmlformats.org/officeDocument/2006/extended-properties" xmlns:vt="http://schemas.openxmlformats.org/officeDocument/2006/docPropsVTypes">
  <Application>Codex PPTX Generator</Application>
  <PresentationFormat>Widescreen</PresentationFormat>
  <Slides>10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Isolation Project Deck</dc:title>
  <dc:creator>Codex</dc:creator>
  <cp:lastModifiedBy>Codex</cp:lastModifiedBy>
  <dcterms:created xsi:type="dcterms:W3CDTF">2026-05-11T00:00:00Z</dcterms:created>
  <dcterms:modified xsi:type="dcterms:W3CDTF">2026-05-11T00:00:00Z</dcterms:modified>
</cp:coreProperties>
</file>

<file path=ppt\_rels\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wide"/>
  <p:notesSz cx="6858000" cy="9144000"/>
</p:presentation>
</file>

<file path=ppt\slideLayouts\_rels\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\slideMasters\_rels\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\slides\_rels\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Isolation Project 발표 요약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58368" y="1325880"/>
            <a:ext cx="7589520" cy="109728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anchor="top"/>
          <a:lstStyle/>
          <a:p>
            <a:pPr marL="0" indent="0" algn="l">
              <a:buNone/>
            </a:pPr>
            <a:r>
              <a:rPr lang="ko-KR" sz="30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DB · Backend · RAG 중심 구현 리뷰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713232" y="2788920"/>
            <a:ext cx="3657600" cy="105156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Aiven MySQL</a:t>
            </a:r>
          </a:p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설문/응답/통계 데이터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4526280" y="2788920"/>
            <a:ext cx="3108960" cy="105156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Express API</a:t>
            </a:r>
          </a:p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개인 결과 · 통계 · 채팅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818120" y="2788920"/>
            <a:ext cx="3474720" cy="105156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RAG Moderation</a:t>
            </a:r>
          </a:p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Trie + GPT-4o mini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77240" y="457200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프론트는 시연 중심, 발표 자료는 데이터/백엔드 설계 중심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쿠키 기반 개인화와 통계 API를 Step3 화면에 연결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사용자 입력 채팅은 백엔드에서 검열 후 PASS만 노출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3263A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전체 서비스 흐름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40080" y="1417320"/>
            <a:ext cx="1920240" cy="82296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Step1 설문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2834640" y="1417320"/>
            <a:ext cx="1920240" cy="82296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DB 저장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029200" y="1417320"/>
            <a:ext cx="1920240" cy="82296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쿠키 발급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223760" y="1417320"/>
            <a:ext cx="1920240" cy="82296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Step2 개인화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9418320" y="1417320"/>
            <a:ext cx="1920240" cy="82296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Step3 결과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77240" y="2926080"/>
            <a:ext cx="5120640" cy="21031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survey_participants: 참여자 기본 정보, 총점, AI 분석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user_responses: scene_id별 응답 저장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scenes_metadata: 질문 라벨/타입/장면 코드 관리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400800" y="2926080"/>
            <a:ext cx="5120640" cy="21031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isolation_user_info 쿠키로 현재 사용자 식별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generation 값으로 B 콘텐츠 분기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개인 결과/전체 통계/채팅 API를 Step3에서 조회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2542032" y="1810512"/>
            <a:ext cx="292608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3" name="Arrow 13"/>
          <p:cNvCxnSpPr/>
          <p:nvPr/>
        </p:nvCxnSpPr>
        <p:spPr>
          <a:xfrm>
            <a:off x="4736592" y="1810512"/>
            <a:ext cx="292608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4" name="Arrow 14"/>
          <p:cNvCxnSpPr/>
          <p:nvPr/>
        </p:nvCxnSpPr>
        <p:spPr>
          <a:xfrm>
            <a:off x="6931152" y="1810512"/>
            <a:ext cx="292608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5" name="Arrow 15"/>
          <p:cNvCxnSpPr/>
          <p:nvPr/>
        </p:nvCxnSpPr>
        <p:spPr>
          <a:xfrm>
            <a:off x="9125712" y="1810512"/>
            <a:ext cx="292608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DB 모델링 핵심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1234440"/>
            <a:ext cx="2560320" cy="114300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500" dirty="0">
                <a:solidFill>
                  <a:srgbClr val="101820"/>
                </a:solidFill>
                <a:latin typeface="Malgun Gothic"/>
                <a:ea typeface="Malgun Gothic"/>
              </a:rPr>
              <a:t>survey_participants</a:t>
            </a:r>
          </a:p>
          <a:p>
            <a:pPr marL="0" indent="0" algn="l">
              <a:buNone/>
            </a:pPr>
            <a:r>
              <a:rPr lang="ko-KR" sz="1500" dirty="0">
                <a:solidFill>
                  <a:srgbClr val="101820"/>
                </a:solidFill>
                <a:latin typeface="Malgun Gothic"/>
                <a:ea typeface="Malgun Gothic"/>
              </a:rPr>
              <a:t>id, user_name, age, gender, total_score, result_analysis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3657600" y="1234440"/>
            <a:ext cx="2560320" cy="114300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500" dirty="0">
                <a:solidFill>
                  <a:srgbClr val="101820"/>
                </a:solidFill>
                <a:latin typeface="Malgun Gothic"/>
                <a:ea typeface="Malgun Gothic"/>
              </a:rPr>
              <a:t>user_responses</a:t>
            </a:r>
          </a:p>
          <a:p>
            <a:pPr marL="0" indent="0" algn="l">
              <a:buNone/>
            </a:pPr>
            <a:r>
              <a:rPr lang="ko-KR" sz="1500" dirty="0">
                <a:solidFill>
                  <a:srgbClr val="101820"/>
                </a:solidFill>
                <a:latin typeface="Malgun Gothic"/>
                <a:ea typeface="Malgun Gothic"/>
              </a:rPr>
              <a:t>participant_id, scene_id, option_id, answer_text, feeling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583680" y="1234440"/>
            <a:ext cx="2560320" cy="114300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500" dirty="0">
                <a:solidFill>
                  <a:srgbClr val="101820"/>
                </a:solidFill>
                <a:latin typeface="Malgun Gothic"/>
                <a:ea typeface="Malgun Gothic"/>
              </a:rPr>
              <a:t>scenes_metadata</a:t>
            </a:r>
          </a:p>
          <a:p>
            <a:pPr marL="0" indent="0" algn="l">
              <a:buNone/>
            </a:pPr>
            <a:r>
              <a:rPr lang="ko-KR" sz="1500" dirty="0">
                <a:solidFill>
                  <a:srgbClr val="101820"/>
                </a:solidFill>
                <a:latin typeface="Malgun Gothic"/>
                <a:ea typeface="Malgun Gothic"/>
              </a:rPr>
              <a:t>scene_code, interaction_type, interaction_label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9509760" y="1234440"/>
            <a:ext cx="2011680" cy="1143000"/>
          </a:xfrm>
          <a:prstGeom prst="roundRect">
            <a:avLst/>
          </a:prstGeom>
          <a:solidFill>
            <a:srgbClr val="F7F7F7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500" dirty="0">
                <a:solidFill>
                  <a:srgbClr val="101820"/>
                </a:solidFill>
                <a:latin typeface="Malgun Gothic"/>
                <a:ea typeface="Malgun Gothic"/>
              </a:rPr>
              <a:t>scene_options</a:t>
            </a:r>
          </a:p>
          <a:p>
            <a:pPr marL="0" indent="0" algn="l">
              <a:buNone/>
            </a:pPr>
            <a:r>
              <a:rPr lang="ko-KR" sz="1500" dirty="0">
                <a:solidFill>
                  <a:srgbClr val="101820"/>
                </a:solidFill>
                <a:latin typeface="Malgun Gothic"/>
                <a:ea typeface="Malgun Gothic"/>
              </a:rPr>
              <a:t>선택형 보기 텍스트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822960" y="3063240"/>
            <a:ext cx="10515600" cy="21031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개인 결과: 쿠키 id -&gt; participant -&gt; response + scene + option 조인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전체 통계: age 10단위, gender, scene, answer 기준으로 그룹화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채팅: cheer_messages 테이블에서 PENDING/PASS/FAIL 상태 관리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3263A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개인 설문 결과 API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1234440"/>
            <a:ext cx="5212080" cy="3840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GET /api/isolation/survey-results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쿠키 isolation_user_info에서 participantId 추출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현재 사용자 한 명의 질문/답변만 조회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total_score와 result_analysis를 함께 반환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400800" y="1298448"/>
            <a:ext cx="4754880" cy="91440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0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쿠키 id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400800" y="2514600"/>
            <a:ext cx="4754880" cy="91440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0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survey_participants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6400800" y="3730752"/>
            <a:ext cx="4754880" cy="91440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user_responses + scenes_metadata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400800" y="4956048"/>
            <a:ext cx="4754880" cy="914400"/>
          </a:xfrm>
          <a:prstGeom prst="round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0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질문-답변 개인 리포트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8778240" y="2221992"/>
            <a:ext cx="0" cy="292608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1" name="Arrow 11"/>
          <p:cNvCxnSpPr/>
          <p:nvPr/>
        </p:nvCxnSpPr>
        <p:spPr>
          <a:xfrm>
            <a:off x="8778240" y="3438144"/>
            <a:ext cx="0" cy="292608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2" name="Arrow 12"/>
          <p:cNvCxnSpPr/>
          <p:nvPr/>
        </p:nvCxnSpPr>
        <p:spPr>
          <a:xfrm>
            <a:off x="8778240" y="4654296"/>
            <a:ext cx="0" cy="292608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전체 통계 API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143000"/>
            <a:ext cx="5486400" cy="43891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GET /api/isolation/statistics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age를 10단위 연령대로 묶고 gender와 함께 그룹화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choice는 option_id 기준 집계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input은 answer_text_feeling 값 G/B/S 기준 집계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count / totalResponses로 percentage 계산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492240" y="1207008"/>
            <a:ext cx="4480560" cy="96012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900" dirty="0">
                <a:solidFill>
                  <a:srgbClr val="101820"/>
                </a:solidFill>
                <a:latin typeface="Malgun Gothic"/>
                <a:ea typeface="Malgun Gothic"/>
              </a:rPr>
              <a:t>graph</a:t>
            </a:r>
          </a:p>
          <a:p>
            <a:pPr marL="0" indent="0" algn="l">
              <a:buNone/>
            </a:pPr>
            <a:r>
              <a:rPr lang="ko-KR" sz="1900" dirty="0">
                <a:solidFill>
                  <a:srgbClr val="101820"/>
                </a:solidFill>
                <a:latin typeface="Malgun Gothic"/>
                <a:ea typeface="Malgun Gothic"/>
              </a:rPr>
              <a:t>nodes / links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492240" y="2487168"/>
            <a:ext cx="4480560" cy="96012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summary</a:t>
            </a:r>
          </a:p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questions / answers / percentage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6492240" y="3767328"/>
            <a:ext cx="4480560" cy="96012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step2Summary</a:t>
            </a:r>
          </a:p>
          <a:p>
            <a:pPr marL="0" indent="0" algn="l">
              <a:buNone/>
            </a:pPr>
            <a:r>
              <a:rPr lang="ko-KR" sz="1800" dirty="0">
                <a:solidFill>
                  <a:srgbClr val="101820"/>
                </a:solidFill>
                <a:latin typeface="Malgun Gothic"/>
                <a:ea typeface="Malgun Gothic"/>
              </a:rPr>
              <a:t>ageGroup / gender / avgScore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492240" y="5047488"/>
            <a:ext cx="4480560" cy="594360"/>
          </a:xfrm>
          <a:prstGeom prst="roundRect">
            <a:avLst/>
          </a:prstGeom>
          <a:solidFill>
            <a:srgbClr val="27435D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한 API로 여러 시각화 재사용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3263A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F476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따뜻한 한마디 RAG 검열 파이프라인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234440"/>
            <a:ext cx="2011680" cy="731520"/>
          </a:xfrm>
          <a:prstGeom prst="round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입력 검증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2971800" y="1234440"/>
            <a:ext cx="2011680" cy="73152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Trie 필터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257800" y="1234440"/>
            <a:ext cx="2011680" cy="73152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PENDING 저장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543800" y="1234440"/>
            <a:ext cx="2011680" cy="73152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LLM RAG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9829800" y="1234440"/>
            <a:ext cx="1645920" cy="731520"/>
          </a:xfrm>
          <a:prstGeom prst="round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DB 반영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822960" y="2880360"/>
            <a:ext cx="10424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1차 필터: slang.csv + LoL 필터 리스트 + 추가 금칙어를 fastscanner Trie로 검사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2차 필터: messageRag.js 프롬프트와 GPT-4o mini로 문맥 분석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PASS 메시지만 목록 API에서 반환, 실패/파싱 오류는 안전하게 FAIL 처리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2697480" y="1600200"/>
            <a:ext cx="274320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2" name="Arrow 12"/>
          <p:cNvCxnSpPr/>
          <p:nvPr/>
        </p:nvCxnSpPr>
        <p:spPr>
          <a:xfrm>
            <a:off x="4983480" y="1600200"/>
            <a:ext cx="274320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3" name="Arrow 13"/>
          <p:cNvCxnSpPr/>
          <p:nvPr/>
        </p:nvCxnSpPr>
        <p:spPr>
          <a:xfrm>
            <a:off x="7269480" y="1600200"/>
            <a:ext cx="274320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4" name="Arrow 14"/>
          <p:cNvCxnSpPr/>
          <p:nvPr/>
        </p:nvCxnSpPr>
        <p:spPr>
          <a:xfrm>
            <a:off x="9555480" y="1600200"/>
            <a:ext cx="274320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검열 결과별 DB 처리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77240" y="1280160"/>
            <a:ext cx="3291840" cy="109728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900" dirty="0">
                <a:solidFill>
                  <a:srgbClr val="101820"/>
                </a:solidFill>
                <a:latin typeface="Malgun Gothic"/>
                <a:ea typeface="Malgun Gothic"/>
              </a:rPr>
              <a:t>완전 통과</a:t>
            </a:r>
          </a:p>
          <a:p>
            <a:pPr marL="0" indent="0" algn="l">
              <a:buNone/>
            </a:pPr>
            <a:r>
              <a:rPr lang="ko-KR" sz="1900" dirty="0">
                <a:solidFill>
                  <a:srgbClr val="101820"/>
                </a:solidFill>
                <a:latin typeface="Malgun Gothic"/>
                <a:ea typeface="Malgun Gothic"/>
              </a:rPr>
              <a:t>status = PASS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4434840" y="1280160"/>
            <a:ext cx="3291840" cy="109728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900" dirty="0">
                <a:solidFill>
                  <a:srgbClr val="101820"/>
                </a:solidFill>
                <a:latin typeface="Malgun Gothic"/>
                <a:ea typeface="Malgun Gothic"/>
              </a:rPr>
              <a:t>닉네임만 위반</a:t>
            </a:r>
          </a:p>
          <a:p>
            <a:pPr marL="0" indent="0" algn="l">
              <a:buNone/>
            </a:pPr>
            <a:r>
              <a:rPr lang="ko-KR" sz="1900" dirty="0">
                <a:solidFill>
                  <a:srgbClr val="101820"/>
                </a:solidFill>
                <a:latin typeface="Malgun Gothic"/>
                <a:ea typeface="Malgun Gothic"/>
              </a:rPr>
              <a:t>따뜻한마음 + PASS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8092440" y="1280160"/>
            <a:ext cx="3291840" cy="1097280"/>
          </a:xfrm>
          <a:prstGeom prst="roundRect">
            <a:avLst/>
          </a:prstGeom>
          <a:solidFill>
            <a:srgbClr val="EF476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900" dirty="0">
                <a:solidFill>
                  <a:srgbClr val="FFFFFF"/>
                </a:solidFill>
                <a:latin typeface="Malgun Gothic"/>
                <a:ea typeface="Malgun Gothic"/>
              </a:rPr>
              <a:t>메시지 위반</a:t>
            </a:r>
          </a:p>
          <a:p>
            <a:pPr marL="0" indent="0" algn="l">
              <a:buNone/>
            </a:pPr>
            <a:r>
              <a:rPr lang="ko-KR" sz="1900" dirty="0">
                <a:solidFill>
                  <a:srgbClr val="FFFFFF"/>
                </a:solidFill>
                <a:latin typeface="Malgun Gothic"/>
                <a:ea typeface="Malgun Gothic"/>
              </a:rPr>
              <a:t>status = FAIL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914400" y="3154680"/>
            <a:ext cx="100584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등록 API는 LLM 완료까지 기다리지 않고 202 Accepted 응답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백그라운드 검열 완료 후 cheer_messages 상태 업데이트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서버 시작 시 PENDING 메시지를 재처리해 중간 실패를 복구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3263A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3D/인터랙션 프론트 설명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77240" y="1188720"/>
            <a:ext cx="5303520" cy="4206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Step2: 스크롤 상승 이벤트, 클릭 사운드, BGM, 전환 영상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브라우저 자동재생 정책을 고려해 사용자 클릭 흐름에 오디오 연결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generation 쿠키 기반으로 B 콘텐츠 분기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400800" y="1188720"/>
            <a:ext cx="4937760" cy="4206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Step3 통계: 3D 그래프 아이디어를 모바일에 맞게 재해석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Matter.js로 참여자 1명당 입자 1개 생성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문항별 상세는 원그래프로 응답 비율 표시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트러블슈팅 요약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822960" y="1097280"/>
            <a:ext cx="10424160" cy="47548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800" dirty="0">
                <a:solidFill>
                  <a:srgbClr val="EAF6FF"/>
                </a:solidFill>
                <a:latin typeface="Malgun Gothic"/>
                <a:ea typeface="Malgun Gothic"/>
              </a:rPr>
              <a:t>통계가 100개 예시 데이터로만 보이던 문제: API 실패 시에만 fallback 사용하도록 조건 분리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EAF6FF"/>
                </a:solidFill>
                <a:latin typeface="Malgun Gothic"/>
                <a:ea typeface="Malgun Gothic"/>
              </a:rPr>
              <a:t>SCENE_0 개인정보 입력 문항 노출 문제: 통계/설문결과 화면에서 제외 처리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EAF6FF"/>
                </a:solidFill>
                <a:latin typeface="Malgun Gothic"/>
                <a:ea typeface="Malgun Gothic"/>
              </a:rPr>
              <a:t>주관식 통계 분산 문제: answer_text_feeling G/B/S로 정규화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EAF6FF"/>
                </a:solidFill>
                <a:latin typeface="Malgun Gothic"/>
                <a:ea typeface="Malgun Gothic"/>
              </a:rPr>
              <a:t>LLM 실패/파싱 오류 문제: FAIL 기본값과 PENDING 복구 로직 적용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EAF6FF"/>
                </a:solidFill>
                <a:latin typeface="Malgun Gothic"/>
                <a:ea typeface="Malgun Gothic"/>
              </a:rPr>
              <a:t>소리 있는 미디어 자동재생 문제: 클릭 이벤트 기반 재생 흐름으로 전환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3263A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발표 마무리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822960" y="1325880"/>
            <a:ext cx="10424160" cy="91440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데이터 저장 → API 재가공 → 개인화/통계/검열 UX로 연결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914400" y="2743200"/>
            <a:ext cx="10058400" cy="2286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2000" dirty="0">
                <a:solidFill>
                  <a:srgbClr val="EAF6FF"/>
                </a:solidFill>
                <a:latin typeface="Malgun Gothic"/>
                <a:ea typeface="Malgun Gothic"/>
              </a:rPr>
              <a:t>DB/백엔드/RAG가 화면 시연의 근거가 되는 구조</a:t>
            </a:r>
          </a:p>
          <a:p>
            <a:pPr marL="228600" indent="-171450" algn="l">
              <a:buChar char="•"/>
            </a:pPr>
            <a:r>
              <a:rPr lang="ko-KR" sz="2000" dirty="0">
                <a:solidFill>
                  <a:srgbClr val="EAF6FF"/>
                </a:solidFill>
                <a:latin typeface="Malgun Gothic"/>
                <a:ea typeface="Malgun Gothic"/>
              </a:rPr>
              <a:t>사용자 입력과 외부 AI API 실패를 고려한 안전한 상태 처리</a:t>
            </a:r>
          </a:p>
          <a:p>
            <a:pPr marL="228600" indent="-171450" algn="l">
              <a:buChar char="•"/>
            </a:pPr>
            <a:r>
              <a:rPr lang="ko-KR" sz="2000" dirty="0">
                <a:solidFill>
                  <a:srgbClr val="EAF6FF"/>
                </a:solidFill>
                <a:latin typeface="Malgun Gothic"/>
                <a:ea typeface="Malgun Gothic"/>
              </a:rPr>
              <a:t>시각화는 모바일 시연에 맞춰 입자/원그래프 중심으로 최적화</a:t>
            </a:r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CodexTheme">
  <a:themeElements>
    <a:clrScheme name="Codex">
      <a:dk1>
        <a:srgbClr val="101820"/>
      </a:dk1>
      <a:lt1>
        <a:srgbClr val="FFFFFF"/>
      </a:lt1>
      <a:dk2>
        <a:srgbClr val="1B263B"/>
      </a:dk2>
      <a:lt2>
        <a:srgbClr val="F4F8FF"/>
      </a:lt2>
      <a:accent1>
        <a:srgbClr val="37B7FF"/>
      </a:accent1>
      <a:accent2>
        <a:srgbClr val="60D394"/>
      </a:accent2>
      <a:accent3>
        <a:srgbClr val="FFD166"/>
      </a:accent3>
      <a:accent4>
        <a:srgbClr val="EF476F"/>
      </a:accent4>
      <a:accent5>
        <a:srgbClr val="8E7CFF"/>
      </a:accent5>
      <a:accent6>
        <a:srgbClr val="06D6A0"/>
      </a:accent6>
      <a:hlink>
        <a:srgbClr val="37B7FF"/>
      </a:hlink>
      <a:folHlink>
        <a:srgbClr val="8E7CFF"/>
      </a:folHlink>
    </a:clrScheme>
    <a:fontScheme name="Malgun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Default">
      <a:fillStyleLst/>
      <a:lnStyleLst/>
      <a:effectStyleLst/>
      <a:bgFillStyleLst/>
    </a:fmtScheme>
  </a:themeElements>
</a:theme>
</file>